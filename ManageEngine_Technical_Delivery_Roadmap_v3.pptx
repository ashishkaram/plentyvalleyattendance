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" id="{9dc2753c-96d6-f8e0-6414-7bcc3c78946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ManageEngine_Interface_Tracker_v4.xlsx. Each interface is placed in the month of its planned End date and coloured by its Release column. Phase 1 = Release 1 (Oct–Dec-26); Phase 2 = Releases 2 and 3 (Jan–Jun-27). Milestone markers sit at their date within the month. Roadmap v2 edits: Intune, SCCM, Lansweeper, NTT CMDB and HP (now under Vendor &amp; External Services) finish Dec-26 as Release 1 items; VMware vSphere, Azure Resource Graph and Azure API Management finish Jan-27; milestones at month end. Phase = TBD items sit in the Future / TBD column. Updated per 28-Oct-2026 call with Jacinta Undy: release windows realigned; agent/agentless pilot (Nov) and rollout (Dec, contingency Jan) clubbed; Tenable and NetBox moved to TBD; CMDB/asset-list feeds (Intune, SCCM, Lansweeper, NTT CMDB) moved to start of Release 2 (Jan-27); Golden Asset Record milestone added for end of Jan-27 (contingency Feb). The Golden Asset Record depends on the asset integrations, which depend on the full agent/agentless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m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09728"/>
            <a:ext cx="9144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85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548640"/>
            <a:ext cx="5486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14285A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9125712" y="6556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Confidential  |  For Internal Use Only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097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85A"/>
                </a:solidFill>
              </a:rPr>
              <a:t>ManageEngine Technical Delivery Roadmap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0040" y="548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85A"/>
                </a:solidFill>
              </a:rPr>
              <a:t>Oct 2026 – Jun 2027</a:t>
            </a:r>
            <a:endParaRPr lang="en-US" sz="1500" dirty="0"/>
          </a:p>
        </p:txBody>
      </p:sp>
      <p:sp>
        <p:nvSpPr>
          <p:cNvPr id="4" name="Phases &amp; Releases panel"/>
          <p:cNvSpPr/>
          <p:nvPr/>
        </p:nvSpPr>
        <p:spPr>
          <a:xfrm>
            <a:off x="320040" y="841248"/>
            <a:ext cx="10259568" cy="566928"/>
          </a:xfrm>
          <a:prstGeom prst="rect">
            <a:avLst/>
          </a:prstGeom>
          <a:solidFill>
            <a:srgbClr val="F3F7FD"/>
          </a:solidFill>
          <a:ln w="9525">
            <a:solidFill>
              <a:srgbClr val="DCE5F2"/>
            </a:solidFill>
            <a:prstDash val="solid"/>
          </a:ln>
        </p:spPr>
      </p:sp>
      <p:sp>
        <p:nvSpPr>
          <p:cNvPr id="5" name="Phases label"/>
          <p:cNvSpPr txBox="1"/>
          <p:nvPr/>
        </p:nvSpPr>
        <p:spPr>
          <a:xfrm>
            <a:off x="429768" y="8412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300" dirty="0"/>
          </a:p>
        </p:txBody>
      </p:sp>
      <p:sp>
        <p:nvSpPr>
          <p:cNvPr id="6" name="Releases label"/>
          <p:cNvSpPr txBox="1"/>
          <p:nvPr/>
        </p:nvSpPr>
        <p:spPr>
          <a:xfrm>
            <a:off x="429768" y="111556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300" dirty="0"/>
          </a:p>
        </p:txBody>
      </p:sp>
      <p:sp>
        <p:nvSpPr>
          <p:cNvPr id="7" name="Release gridline 0"/>
          <p:cNvSpPr/>
          <p:nvPr/>
        </p:nvSpPr>
        <p:spPr>
          <a:xfrm>
            <a:off x="2103120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8" name="Release gridline 1"/>
          <p:cNvSpPr/>
          <p:nvPr/>
        </p:nvSpPr>
        <p:spPr>
          <a:xfrm>
            <a:off x="3044952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9" name="Release gridline 2"/>
          <p:cNvSpPr/>
          <p:nvPr/>
        </p:nvSpPr>
        <p:spPr>
          <a:xfrm>
            <a:off x="3986784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0" name="Release gridline 3"/>
          <p:cNvSpPr/>
          <p:nvPr/>
        </p:nvSpPr>
        <p:spPr>
          <a:xfrm>
            <a:off x="4928616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1" name="Release gridline 4"/>
          <p:cNvSpPr/>
          <p:nvPr/>
        </p:nvSpPr>
        <p:spPr>
          <a:xfrm>
            <a:off x="5870448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2" name="Release gridline 5"/>
          <p:cNvSpPr/>
          <p:nvPr/>
        </p:nvSpPr>
        <p:spPr>
          <a:xfrm>
            <a:off x="6812280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3" name="Release gridline 6"/>
          <p:cNvSpPr/>
          <p:nvPr/>
        </p:nvSpPr>
        <p:spPr>
          <a:xfrm>
            <a:off x="7754112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4" name="Release gridline 7"/>
          <p:cNvSpPr/>
          <p:nvPr/>
        </p:nvSpPr>
        <p:spPr>
          <a:xfrm>
            <a:off x="8695944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5" name="Release gridline 8"/>
          <p:cNvSpPr/>
          <p:nvPr/>
        </p:nvSpPr>
        <p:spPr>
          <a:xfrm>
            <a:off x="9637776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6" name="Release gridline 9"/>
          <p:cNvSpPr/>
          <p:nvPr/>
        </p:nvSpPr>
        <p:spPr>
          <a:xfrm>
            <a:off x="10579608" y="841248"/>
            <a:ext cx="0" cy="566928"/>
          </a:xfrm>
          <a:prstGeom prst="line">
            <a:avLst/>
          </a:prstGeom>
          <a:noFill/>
          <a:ln w="6350">
            <a:solidFill>
              <a:srgbClr val="C9D3E3"/>
            </a:solidFill>
            <a:prstDash val="dash"/>
          </a:ln>
        </p:spPr>
      </p:sp>
      <p:sp>
        <p:nvSpPr>
          <p:cNvPr id="17" name="Phase 1 bar"/>
          <p:cNvSpPr/>
          <p:nvPr/>
        </p:nvSpPr>
        <p:spPr>
          <a:xfrm>
            <a:off x="2139696" y="886968"/>
            <a:ext cx="2752344" cy="201168"/>
          </a:xfrm>
          <a:prstGeom prst="roundRect">
            <a:avLst>
              <a:gd name="adj" fmla="val 18182"/>
            </a:avLst>
          </a:prstGeom>
          <a:solidFill>
            <a:srgbClr val="2F4F8F"/>
          </a:solidFill>
          <a:ln w="6350">
            <a:solidFill>
              <a:srgbClr val="2F4F8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– Dec 2026  ·  Release 1</a:t>
            </a:r>
            <a:endParaRPr lang="en-US" sz="1100" dirty="0"/>
          </a:p>
        </p:txBody>
      </p:sp>
      <p:sp>
        <p:nvSpPr>
          <p:cNvPr id="18" name="Phase 2 bar"/>
          <p:cNvSpPr/>
          <p:nvPr/>
        </p:nvSpPr>
        <p:spPr>
          <a:xfrm>
            <a:off x="4965192" y="886968"/>
            <a:ext cx="5577840" cy="201168"/>
          </a:xfrm>
          <a:prstGeom prst="roundRect">
            <a:avLst>
              <a:gd name="adj" fmla="val 18182"/>
            </a:avLst>
          </a:prstGeom>
          <a:solidFill>
            <a:srgbClr val="14285A"/>
          </a:solidFill>
          <a:ln w="6350">
            <a:solidFill>
              <a:srgbClr val="1428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 – Jun 2027  ·  Releases 2 &amp; 3</a:t>
            </a:r>
            <a:endParaRPr lang="en-US" sz="1100" dirty="0"/>
          </a:p>
        </p:txBody>
      </p:sp>
      <p:sp>
        <p:nvSpPr>
          <p:cNvPr id="19" name="Release 1 bar"/>
          <p:cNvSpPr/>
          <p:nvPr/>
        </p:nvSpPr>
        <p:spPr>
          <a:xfrm>
            <a:off x="2139696" y="1152144"/>
            <a:ext cx="2752344" cy="201168"/>
          </a:xfrm>
          <a:prstGeom prst="roundRect">
            <a:avLst>
              <a:gd name="adj" fmla="val 18182"/>
            </a:avLst>
          </a:prstGeom>
          <a:solidFill>
            <a:srgbClr val="7FA9E8"/>
          </a:solidFill>
          <a:ln w="6350">
            <a:solidFill>
              <a:srgbClr val="7FA9E8"/>
            </a:solidFill>
            <a:prstDash val="solid"/>
          </a:ln>
        </p:spPr>
      </p:sp>
      <p:sp>
        <p:nvSpPr>
          <p:cNvPr id="20" name="Release 1 label"/>
          <p:cNvSpPr txBox="1"/>
          <p:nvPr/>
        </p:nvSpPr>
        <p:spPr>
          <a:xfrm>
            <a:off x="2139696" y="1152144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   </a:t>
            </a:r>
            <a:pPr algn="ctr" indent="0" marL="0">
              <a:buNone/>
            </a:pPr>
            <a:r>
              <a:rPr lang="en-US" sz="9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– Dec 2026</a:t>
            </a:r>
            <a:endParaRPr lang="en-US" sz="1100" dirty="0"/>
          </a:p>
        </p:txBody>
      </p:sp>
      <p:sp>
        <p:nvSpPr>
          <p:cNvPr id="21" name="Release 2 bar"/>
          <p:cNvSpPr/>
          <p:nvPr/>
        </p:nvSpPr>
        <p:spPr>
          <a:xfrm>
            <a:off x="4965192" y="1152144"/>
            <a:ext cx="2752344" cy="201168"/>
          </a:xfrm>
          <a:prstGeom prst="roundRect">
            <a:avLst>
              <a:gd name="adj" fmla="val 18182"/>
            </a:avLst>
          </a:prstGeom>
          <a:solidFill>
            <a:srgbClr val="9ED9C9"/>
          </a:solidFill>
          <a:ln w="6350">
            <a:solidFill>
              <a:srgbClr val="9ED9C9"/>
            </a:solidFill>
            <a:prstDash val="solid"/>
          </a:ln>
        </p:spPr>
      </p:sp>
      <p:sp>
        <p:nvSpPr>
          <p:cNvPr id="22" name="Release 2 label"/>
          <p:cNvSpPr txBox="1"/>
          <p:nvPr/>
        </p:nvSpPr>
        <p:spPr>
          <a:xfrm>
            <a:off x="4965192" y="1152144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   </a:t>
            </a:r>
            <a:pPr algn="ctr" indent="0" marL="0">
              <a:buNone/>
            </a:pPr>
            <a:r>
              <a:rPr lang="en-US" sz="90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 – Mar 2027</a:t>
            </a:r>
            <a:endParaRPr lang="en-US" sz="1100" dirty="0"/>
          </a:p>
        </p:txBody>
      </p:sp>
      <p:sp>
        <p:nvSpPr>
          <p:cNvPr id="23" name="Release 3 bar"/>
          <p:cNvSpPr/>
          <p:nvPr/>
        </p:nvSpPr>
        <p:spPr>
          <a:xfrm>
            <a:off x="7790688" y="1152144"/>
            <a:ext cx="2752344" cy="201168"/>
          </a:xfrm>
          <a:prstGeom prst="roundRect">
            <a:avLst>
              <a:gd name="adj" fmla="val 18182"/>
            </a:avLst>
          </a:prstGeom>
          <a:solidFill>
            <a:srgbClr val="B49CEB"/>
          </a:solidFill>
          <a:ln w="6350">
            <a:solidFill>
              <a:srgbClr val="B49CEB"/>
            </a:solidFill>
            <a:prstDash val="solid"/>
          </a:ln>
        </p:spPr>
      </p:sp>
      <p:sp>
        <p:nvSpPr>
          <p:cNvPr id="24" name="Release 3 label"/>
          <p:cNvSpPr txBox="1"/>
          <p:nvPr/>
        </p:nvSpPr>
        <p:spPr>
          <a:xfrm>
            <a:off x="7790688" y="1152144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   </a:t>
            </a:r>
            <a:pPr algn="ctr" indent="0" marL="0">
              <a:buNone/>
            </a:pPr>
            <a:r>
              <a:rPr lang="en-US" sz="90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2027 – Jun 2027</a:t>
            </a:r>
            <a:endParaRPr lang="en-US" sz="1100" dirty="0"/>
          </a:p>
        </p:txBody>
      </p:sp>
      <p:sp>
        <p:nvSpPr>
          <p:cNvPr id="25" name="Header row"/>
          <p:cNvSpPr/>
          <p:nvPr/>
        </p:nvSpPr>
        <p:spPr>
          <a:xfrm>
            <a:off x="320040" y="1481328"/>
            <a:ext cx="10259568" cy="237744"/>
          </a:xfrm>
          <a:prstGeom prst="rect">
            <a:avLst/>
          </a:prstGeom>
          <a:solidFill>
            <a:srgbClr val="E4E9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26" name="Header category"/>
          <p:cNvSpPr txBox="1"/>
          <p:nvPr/>
        </p:nvSpPr>
        <p:spPr>
          <a:xfrm>
            <a:off x="429768" y="148132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Category</a:t>
            </a:r>
            <a:endParaRPr lang="en-US" sz="1100" dirty="0"/>
          </a:p>
        </p:txBody>
      </p:sp>
      <p:sp>
        <p:nvSpPr>
          <p:cNvPr id="27" name="Header Oct-26"/>
          <p:cNvSpPr txBox="1"/>
          <p:nvPr/>
        </p:nvSpPr>
        <p:spPr>
          <a:xfrm>
            <a:off x="2103120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1100" dirty="0"/>
          </a:p>
        </p:txBody>
      </p:sp>
      <p:sp>
        <p:nvSpPr>
          <p:cNvPr id="28" name="Header Nov-26"/>
          <p:cNvSpPr txBox="1"/>
          <p:nvPr/>
        </p:nvSpPr>
        <p:spPr>
          <a:xfrm>
            <a:off x="3044952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1100" dirty="0"/>
          </a:p>
        </p:txBody>
      </p:sp>
      <p:sp>
        <p:nvSpPr>
          <p:cNvPr id="29" name="Header Dec-26"/>
          <p:cNvSpPr txBox="1"/>
          <p:nvPr/>
        </p:nvSpPr>
        <p:spPr>
          <a:xfrm>
            <a:off x="3986784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1100" dirty="0"/>
          </a:p>
        </p:txBody>
      </p:sp>
      <p:sp>
        <p:nvSpPr>
          <p:cNvPr id="30" name="Header Jan-27"/>
          <p:cNvSpPr txBox="1"/>
          <p:nvPr/>
        </p:nvSpPr>
        <p:spPr>
          <a:xfrm>
            <a:off x="4928616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Jan-27</a:t>
            </a:r>
            <a:endParaRPr lang="en-US" sz="1100" dirty="0"/>
          </a:p>
        </p:txBody>
      </p:sp>
      <p:sp>
        <p:nvSpPr>
          <p:cNvPr id="31" name="Header Feb-27"/>
          <p:cNvSpPr txBox="1"/>
          <p:nvPr/>
        </p:nvSpPr>
        <p:spPr>
          <a:xfrm>
            <a:off x="5870448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Feb-27</a:t>
            </a:r>
            <a:endParaRPr lang="en-US" sz="1100" dirty="0"/>
          </a:p>
        </p:txBody>
      </p:sp>
      <p:sp>
        <p:nvSpPr>
          <p:cNvPr id="32" name="Header Mar-27"/>
          <p:cNvSpPr txBox="1"/>
          <p:nvPr/>
        </p:nvSpPr>
        <p:spPr>
          <a:xfrm>
            <a:off x="6812280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Mar-27</a:t>
            </a:r>
            <a:endParaRPr lang="en-US" sz="1100" dirty="0"/>
          </a:p>
        </p:txBody>
      </p:sp>
      <p:sp>
        <p:nvSpPr>
          <p:cNvPr id="33" name="Header Apr-27"/>
          <p:cNvSpPr txBox="1"/>
          <p:nvPr/>
        </p:nvSpPr>
        <p:spPr>
          <a:xfrm>
            <a:off x="7754112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Apr-27</a:t>
            </a:r>
            <a:endParaRPr lang="en-US" sz="1100" dirty="0"/>
          </a:p>
        </p:txBody>
      </p:sp>
      <p:sp>
        <p:nvSpPr>
          <p:cNvPr id="34" name="Header May-27"/>
          <p:cNvSpPr txBox="1"/>
          <p:nvPr/>
        </p:nvSpPr>
        <p:spPr>
          <a:xfrm>
            <a:off x="8695944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May-27</a:t>
            </a:r>
            <a:endParaRPr lang="en-US" sz="1100" dirty="0"/>
          </a:p>
        </p:txBody>
      </p:sp>
      <p:sp>
        <p:nvSpPr>
          <p:cNvPr id="35" name="Header Jun-27"/>
          <p:cNvSpPr txBox="1"/>
          <p:nvPr/>
        </p:nvSpPr>
        <p:spPr>
          <a:xfrm>
            <a:off x="9637776" y="148132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Jun-27</a:t>
            </a:r>
            <a:endParaRPr lang="en-US" sz="1100" dirty="0"/>
          </a:p>
        </p:txBody>
      </p:sp>
      <p:sp>
        <p:nvSpPr>
          <p:cNvPr id="36" name="Future panel"/>
          <p:cNvSpPr/>
          <p:nvPr/>
        </p:nvSpPr>
        <p:spPr>
          <a:xfrm>
            <a:off x="10652760" y="1481328"/>
            <a:ext cx="1216152" cy="3881628"/>
          </a:xfrm>
          <a:prstGeom prst="rect">
            <a:avLst/>
          </a:prstGeom>
          <a:solidFill>
            <a:srgbClr val="F1F3F6"/>
          </a:solidFill>
          <a:ln w="9525">
            <a:solidFill>
              <a:srgbClr val="E1E5EB"/>
            </a:solidFill>
            <a:prstDash val="solid"/>
          </a:ln>
        </p:spPr>
      </p:sp>
      <p:sp>
        <p:nvSpPr>
          <p:cNvPr id="37" name="Future header"/>
          <p:cNvSpPr/>
          <p:nvPr/>
        </p:nvSpPr>
        <p:spPr>
          <a:xfrm>
            <a:off x="10652760" y="1481328"/>
            <a:ext cx="1216152" cy="237744"/>
          </a:xfrm>
          <a:prstGeom prst="rect">
            <a:avLst/>
          </a:prstGeom>
          <a:solidFill>
            <a:srgbClr val="E4E9F1"/>
          </a:solidFill>
          <a:ln w="12700">
            <a:solidFill>
              <a:srgbClr val="E4E9F1"/>
            </a:solidFill>
            <a:prstDash val="solid"/>
          </a:ln>
        </p:spPr>
      </p:sp>
      <p:sp>
        <p:nvSpPr>
          <p:cNvPr id="38" name="Future header label"/>
          <p:cNvSpPr txBox="1"/>
          <p:nvPr/>
        </p:nvSpPr>
        <p:spPr>
          <a:xfrm>
            <a:off x="10652760" y="1481328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/ TBD</a:t>
            </a:r>
            <a:endParaRPr lang="en-US" sz="1100" dirty="0"/>
          </a:p>
        </p:txBody>
      </p:sp>
      <p:sp>
        <p:nvSpPr>
          <p:cNvPr id="39" name="Identity &amp; User Management row"/>
          <p:cNvSpPr/>
          <p:nvPr/>
        </p:nvSpPr>
        <p:spPr>
          <a:xfrm>
            <a:off x="320040" y="1719072"/>
            <a:ext cx="10259568" cy="507492"/>
          </a:xfrm>
          <a:prstGeom prst="rect">
            <a:avLst/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Identity &amp; User Management future divider"/>
          <p:cNvSpPr/>
          <p:nvPr/>
        </p:nvSpPr>
        <p:spPr>
          <a:xfrm>
            <a:off x="10652760" y="2226564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41" name="Identity &amp; User Managemen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853946"/>
            <a:ext cx="237744" cy="237744"/>
          </a:xfrm>
          <a:prstGeom prst="rect">
            <a:avLst/>
          </a:prstGeom>
        </p:spPr>
      </p:pic>
      <p:sp>
        <p:nvSpPr>
          <p:cNvPr id="42" name="Identity &amp;amp; User Management label"/>
          <p:cNvSpPr txBox="1"/>
          <p:nvPr/>
        </p:nvSpPr>
        <p:spPr>
          <a:xfrm>
            <a:off x="777240" y="1719072"/>
            <a:ext cx="1307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000" dirty="0"/>
          </a:p>
        </p:txBody>
      </p:sp>
      <p:sp>
        <p:nvSpPr>
          <p:cNvPr id="43" name="Entra ID (Release 1)"/>
          <p:cNvSpPr/>
          <p:nvPr/>
        </p:nvSpPr>
        <p:spPr>
          <a:xfrm>
            <a:off x="3081528" y="1831086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850" dirty="0"/>
          </a:p>
        </p:txBody>
      </p:sp>
      <p:sp>
        <p:nvSpPr>
          <p:cNvPr id="44" name="Active Directory (Release 1)"/>
          <p:cNvSpPr/>
          <p:nvPr/>
        </p:nvSpPr>
        <p:spPr>
          <a:xfrm>
            <a:off x="3081528" y="1981962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850" dirty="0"/>
          </a:p>
        </p:txBody>
      </p:sp>
      <p:sp>
        <p:nvSpPr>
          <p:cNvPr id="45" name="Workday (Release 2)"/>
          <p:cNvSpPr/>
          <p:nvPr/>
        </p:nvSpPr>
        <p:spPr>
          <a:xfrm>
            <a:off x="5907024" y="1755648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850" dirty="0"/>
          </a:p>
        </p:txBody>
      </p:sp>
      <p:sp>
        <p:nvSpPr>
          <p:cNvPr id="46" name="UKG (Release 2)"/>
          <p:cNvSpPr/>
          <p:nvPr/>
        </p:nvSpPr>
        <p:spPr>
          <a:xfrm>
            <a:off x="5907024" y="190652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UKG</a:t>
            </a:r>
            <a:endParaRPr lang="en-US" sz="850" dirty="0"/>
          </a:p>
        </p:txBody>
      </p:sp>
      <p:sp>
        <p:nvSpPr>
          <p:cNvPr id="47" name="Okta (Release 2)"/>
          <p:cNvSpPr/>
          <p:nvPr/>
        </p:nvSpPr>
        <p:spPr>
          <a:xfrm>
            <a:off x="5907024" y="2057400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</a:t>
            </a:r>
            <a:endParaRPr lang="en-US" sz="850" dirty="0"/>
          </a:p>
        </p:txBody>
      </p:sp>
      <p:sp>
        <p:nvSpPr>
          <p:cNvPr id="48" name="Communications &amp; Service Channels row"/>
          <p:cNvSpPr/>
          <p:nvPr/>
        </p:nvSpPr>
        <p:spPr>
          <a:xfrm>
            <a:off x="320040" y="2226564"/>
            <a:ext cx="10259568" cy="365760"/>
          </a:xfrm>
          <a:prstGeom prst="rect">
            <a:avLst/>
          </a:prstGeom>
          <a:solidFill>
            <a:srgbClr val="E7F5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Communications &amp; Service Channels future divider"/>
          <p:cNvSpPr/>
          <p:nvPr/>
        </p:nvSpPr>
        <p:spPr>
          <a:xfrm>
            <a:off x="10652760" y="2592324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50" name="Communications &amp; Service Channel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290572"/>
            <a:ext cx="237744" cy="237744"/>
          </a:xfrm>
          <a:prstGeom prst="rect">
            <a:avLst/>
          </a:prstGeom>
        </p:spPr>
      </p:pic>
      <p:sp>
        <p:nvSpPr>
          <p:cNvPr id="51" name="Communications &amp;amp; Service Channels label"/>
          <p:cNvSpPr txBox="1"/>
          <p:nvPr/>
        </p:nvSpPr>
        <p:spPr>
          <a:xfrm>
            <a:off x="777240" y="2226564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Channels</a:t>
            </a:r>
            <a:endParaRPr lang="en-US" sz="1000" dirty="0"/>
          </a:p>
        </p:txBody>
      </p:sp>
      <p:sp>
        <p:nvSpPr>
          <p:cNvPr id="52" name="Teams (Release 1)"/>
          <p:cNvSpPr/>
          <p:nvPr/>
        </p:nvSpPr>
        <p:spPr>
          <a:xfrm>
            <a:off x="3081528" y="2267712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850" dirty="0"/>
          </a:p>
        </p:txBody>
      </p:sp>
      <p:sp>
        <p:nvSpPr>
          <p:cNvPr id="53" name="Sinch SMS (Release 1)"/>
          <p:cNvSpPr/>
          <p:nvPr/>
        </p:nvSpPr>
        <p:spPr>
          <a:xfrm>
            <a:off x="3081528" y="2418588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Sinch SMS</a:t>
            </a:r>
            <a:endParaRPr lang="en-US" sz="850" dirty="0"/>
          </a:p>
        </p:txBody>
      </p:sp>
      <p:sp>
        <p:nvSpPr>
          <p:cNvPr id="54" name="Genesys (Release 2)"/>
          <p:cNvSpPr/>
          <p:nvPr/>
        </p:nvSpPr>
        <p:spPr>
          <a:xfrm>
            <a:off x="5907024" y="2343150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Genesys</a:t>
            </a:r>
            <a:endParaRPr lang="en-US" sz="850" dirty="0"/>
          </a:p>
        </p:txBody>
      </p:sp>
      <p:sp>
        <p:nvSpPr>
          <p:cNvPr id="55" name="Asset &amp; Configuration Management row"/>
          <p:cNvSpPr/>
          <p:nvPr/>
        </p:nvSpPr>
        <p:spPr>
          <a:xfrm>
            <a:off x="320040" y="2592324"/>
            <a:ext cx="10259568" cy="507492"/>
          </a:xfrm>
          <a:prstGeom prst="rect">
            <a:avLst/>
          </a:prstGeom>
          <a:solidFill>
            <a:srgbClr val="FDF0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Asset &amp; Configuration Management future divider"/>
          <p:cNvSpPr/>
          <p:nvPr/>
        </p:nvSpPr>
        <p:spPr>
          <a:xfrm>
            <a:off x="10652760" y="3099816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57" name="Asset &amp; Configuration Managemen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727198"/>
            <a:ext cx="237744" cy="237744"/>
          </a:xfrm>
          <a:prstGeom prst="rect">
            <a:avLst/>
          </a:prstGeom>
        </p:spPr>
      </p:pic>
      <p:sp>
        <p:nvSpPr>
          <p:cNvPr id="58" name="Asset &amp;amp; Configuration Management label"/>
          <p:cNvSpPr txBox="1"/>
          <p:nvPr/>
        </p:nvSpPr>
        <p:spPr>
          <a:xfrm>
            <a:off x="777240" y="2592324"/>
            <a:ext cx="1307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&amp; 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59" name="Intune (Release 1)"/>
          <p:cNvSpPr/>
          <p:nvPr/>
        </p:nvSpPr>
        <p:spPr>
          <a:xfrm>
            <a:off x="4023360" y="2628900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</a:t>
            </a:r>
            <a:endParaRPr lang="en-US" sz="850" dirty="0"/>
          </a:p>
        </p:txBody>
      </p:sp>
      <p:sp>
        <p:nvSpPr>
          <p:cNvPr id="60" name="SCCM (Release 1)"/>
          <p:cNvSpPr/>
          <p:nvPr/>
        </p:nvSpPr>
        <p:spPr>
          <a:xfrm>
            <a:off x="4023360" y="2779776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</a:t>
            </a:r>
            <a:endParaRPr lang="en-US" sz="850" dirty="0"/>
          </a:p>
        </p:txBody>
      </p:sp>
      <p:sp>
        <p:nvSpPr>
          <p:cNvPr id="61" name="Lansweeper (Release 1)"/>
          <p:cNvSpPr/>
          <p:nvPr/>
        </p:nvSpPr>
        <p:spPr>
          <a:xfrm>
            <a:off x="4023360" y="2930652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Lansweeper</a:t>
            </a:r>
            <a:endParaRPr lang="en-US" sz="850" dirty="0"/>
          </a:p>
        </p:txBody>
      </p:sp>
      <p:sp>
        <p:nvSpPr>
          <p:cNvPr id="62" name="VMware vSphere (Release 2)"/>
          <p:cNvSpPr/>
          <p:nvPr/>
        </p:nvSpPr>
        <p:spPr>
          <a:xfrm>
            <a:off x="4965192" y="2704338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vSphere</a:t>
            </a:r>
            <a:endParaRPr lang="en-US" sz="850" dirty="0"/>
          </a:p>
        </p:txBody>
      </p:sp>
      <p:sp>
        <p:nvSpPr>
          <p:cNvPr id="63" name="Azure Resource Graph (Release 2)"/>
          <p:cNvSpPr/>
          <p:nvPr/>
        </p:nvSpPr>
        <p:spPr>
          <a:xfrm>
            <a:off x="4965192" y="285521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Graph</a:t>
            </a:r>
            <a:endParaRPr lang="en-US" sz="700" dirty="0"/>
          </a:p>
        </p:txBody>
      </p:sp>
      <p:sp>
        <p:nvSpPr>
          <p:cNvPr id="64" name="NetBox (TBD)"/>
          <p:cNvSpPr/>
          <p:nvPr/>
        </p:nvSpPr>
        <p:spPr>
          <a:xfrm>
            <a:off x="10808208" y="2779776"/>
            <a:ext cx="905256" cy="13258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NetBox</a:t>
            </a:r>
            <a:endParaRPr lang="en-US" sz="850" dirty="0"/>
          </a:p>
        </p:txBody>
      </p:sp>
      <p:sp>
        <p:nvSpPr>
          <p:cNvPr id="65" name="Monitoring, Security &amp; Operations row"/>
          <p:cNvSpPr/>
          <p:nvPr/>
        </p:nvSpPr>
        <p:spPr>
          <a:xfrm>
            <a:off x="320040" y="3099816"/>
            <a:ext cx="10259568" cy="507492"/>
          </a:xfrm>
          <a:prstGeom prst="rect">
            <a:avLst/>
          </a:prstGeom>
          <a:solidFill>
            <a:srgbClr val="FCE9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Monitoring, Security &amp; Operations future divider"/>
          <p:cNvSpPr/>
          <p:nvPr/>
        </p:nvSpPr>
        <p:spPr>
          <a:xfrm>
            <a:off x="10652760" y="3607308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67" name="Monitoring, Security &amp; Operation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234690"/>
            <a:ext cx="237744" cy="237744"/>
          </a:xfrm>
          <a:prstGeom prst="rect">
            <a:avLst/>
          </a:prstGeom>
        </p:spPr>
      </p:pic>
      <p:sp>
        <p:nvSpPr>
          <p:cNvPr id="68" name="Monitoring, Security &amp;amp; Operations label"/>
          <p:cNvSpPr txBox="1"/>
          <p:nvPr/>
        </p:nvSpPr>
        <p:spPr>
          <a:xfrm>
            <a:off x="777240" y="3099816"/>
            <a:ext cx="1307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Security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69" name="Azure Monitoring (Release 2)"/>
          <p:cNvSpPr/>
          <p:nvPr/>
        </p:nvSpPr>
        <p:spPr>
          <a:xfrm>
            <a:off x="5907024" y="3136392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Monitoring</a:t>
            </a:r>
            <a:endParaRPr lang="en-US" sz="850" dirty="0"/>
          </a:p>
        </p:txBody>
      </p:sp>
      <p:sp>
        <p:nvSpPr>
          <p:cNvPr id="70" name="PRTG (Release 2)"/>
          <p:cNvSpPr/>
          <p:nvPr/>
        </p:nvSpPr>
        <p:spPr>
          <a:xfrm>
            <a:off x="5907024" y="3287268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PRTG</a:t>
            </a:r>
            <a:endParaRPr lang="en-US" sz="850" dirty="0"/>
          </a:p>
        </p:txBody>
      </p:sp>
      <p:sp>
        <p:nvSpPr>
          <p:cNvPr id="71" name="CrowdStrike (Release 2)"/>
          <p:cNvSpPr/>
          <p:nvPr/>
        </p:nvSpPr>
        <p:spPr>
          <a:xfrm>
            <a:off x="5907024" y="343814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</a:t>
            </a:r>
            <a:endParaRPr lang="en-US" sz="850" dirty="0"/>
          </a:p>
        </p:txBody>
      </p:sp>
      <p:sp>
        <p:nvSpPr>
          <p:cNvPr id="72" name="LogRhythm (Release 3)"/>
          <p:cNvSpPr/>
          <p:nvPr/>
        </p:nvSpPr>
        <p:spPr>
          <a:xfrm>
            <a:off x="8732520" y="3136392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LogRhythm</a:t>
            </a:r>
            <a:endParaRPr lang="en-US" sz="850" dirty="0"/>
          </a:p>
        </p:txBody>
      </p:sp>
      <p:sp>
        <p:nvSpPr>
          <p:cNvPr id="73" name="Seamless SOC (Release 3)"/>
          <p:cNvSpPr/>
          <p:nvPr/>
        </p:nvSpPr>
        <p:spPr>
          <a:xfrm>
            <a:off x="8732520" y="3287268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SOC</a:t>
            </a:r>
            <a:endParaRPr lang="en-US" sz="850" dirty="0"/>
          </a:p>
        </p:txBody>
      </p:sp>
      <p:sp>
        <p:nvSpPr>
          <p:cNvPr id="74" name="Medigate (Release 3)"/>
          <p:cNvSpPr/>
          <p:nvPr/>
        </p:nvSpPr>
        <p:spPr>
          <a:xfrm>
            <a:off x="8732520" y="343814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Medigate</a:t>
            </a:r>
            <a:endParaRPr lang="en-US" sz="850" dirty="0"/>
          </a:p>
        </p:txBody>
      </p:sp>
      <p:sp>
        <p:nvSpPr>
          <p:cNvPr id="75" name="Tenable (TBD)"/>
          <p:cNvSpPr/>
          <p:nvPr/>
        </p:nvSpPr>
        <p:spPr>
          <a:xfrm>
            <a:off x="10808208" y="3287268"/>
            <a:ext cx="905256" cy="13258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</a:t>
            </a:r>
            <a:endParaRPr lang="en-US" sz="850" dirty="0"/>
          </a:p>
        </p:txBody>
      </p:sp>
      <p:sp>
        <p:nvSpPr>
          <p:cNvPr id="76" name="Cloud, Integration &amp; Automation row"/>
          <p:cNvSpPr/>
          <p:nvPr/>
        </p:nvSpPr>
        <p:spPr>
          <a:xfrm>
            <a:off x="320040" y="3607308"/>
            <a:ext cx="10259568" cy="365760"/>
          </a:xfrm>
          <a:prstGeom prst="rect">
            <a:avLst/>
          </a:prstGeom>
          <a:solidFill>
            <a:srgbClr val="EEED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Cloud, Integration &amp; Automation future divider"/>
          <p:cNvSpPr/>
          <p:nvPr/>
        </p:nvSpPr>
        <p:spPr>
          <a:xfrm>
            <a:off x="10652760" y="3973068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78" name="Cloud, Integration &amp; Automatio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671316"/>
            <a:ext cx="237744" cy="237744"/>
          </a:xfrm>
          <a:prstGeom prst="rect">
            <a:avLst/>
          </a:prstGeom>
        </p:spPr>
      </p:pic>
      <p:sp>
        <p:nvSpPr>
          <p:cNvPr id="79" name="Cloud, Integration &amp;amp; Automation label"/>
          <p:cNvSpPr txBox="1"/>
          <p:nvPr/>
        </p:nvSpPr>
        <p:spPr>
          <a:xfrm>
            <a:off x="777240" y="3607308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Integration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80" name="Azure API Management (Release 2)"/>
          <p:cNvSpPr/>
          <p:nvPr/>
        </p:nvSpPr>
        <p:spPr>
          <a:xfrm>
            <a:off x="4965192" y="372389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700" dirty="0"/>
          </a:p>
        </p:txBody>
      </p:sp>
      <p:sp>
        <p:nvSpPr>
          <p:cNvPr id="81" name="Azure DevOps (Release 2)"/>
          <p:cNvSpPr/>
          <p:nvPr/>
        </p:nvSpPr>
        <p:spPr>
          <a:xfrm>
            <a:off x="5907024" y="372389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8DCD1"/>
          </a:solidFill>
          <a:ln w="6350">
            <a:solidFill>
              <a:srgbClr val="A8DCD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850" dirty="0"/>
          </a:p>
        </p:txBody>
      </p:sp>
      <p:sp>
        <p:nvSpPr>
          <p:cNvPr id="82" name="Copilot (TBD)"/>
          <p:cNvSpPr/>
          <p:nvPr/>
        </p:nvSpPr>
        <p:spPr>
          <a:xfrm>
            <a:off x="10808208" y="3648456"/>
            <a:ext cx="905256" cy="13258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850" dirty="0"/>
          </a:p>
        </p:txBody>
      </p:sp>
      <p:sp>
        <p:nvSpPr>
          <p:cNvPr id="83" name="Azure OpenAI (TBD)"/>
          <p:cNvSpPr/>
          <p:nvPr/>
        </p:nvSpPr>
        <p:spPr>
          <a:xfrm>
            <a:off x="10808208" y="3799332"/>
            <a:ext cx="905256" cy="13258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50" dirty="0"/>
          </a:p>
        </p:txBody>
      </p:sp>
      <p:sp>
        <p:nvSpPr>
          <p:cNvPr id="84" name="Vendor &amp; External Services row"/>
          <p:cNvSpPr/>
          <p:nvPr/>
        </p:nvSpPr>
        <p:spPr>
          <a:xfrm>
            <a:off x="320040" y="3973068"/>
            <a:ext cx="10259568" cy="658368"/>
          </a:xfrm>
          <a:prstGeom prst="rect">
            <a:avLst/>
          </a:prstGeom>
          <a:solidFill>
            <a:srgbClr val="FCF6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Vendor &amp; External Services future divider"/>
          <p:cNvSpPr/>
          <p:nvPr/>
        </p:nvSpPr>
        <p:spPr>
          <a:xfrm>
            <a:off x="10652760" y="4631436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86" name="Vendor &amp; External Servic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183380"/>
            <a:ext cx="237744" cy="237744"/>
          </a:xfrm>
          <a:prstGeom prst="rect">
            <a:avLst/>
          </a:prstGeom>
        </p:spPr>
      </p:pic>
      <p:sp>
        <p:nvSpPr>
          <p:cNvPr id="87" name="Vendor &amp;amp; External Services label"/>
          <p:cNvSpPr txBox="1"/>
          <p:nvPr/>
        </p:nvSpPr>
        <p:spPr>
          <a:xfrm>
            <a:off x="777240" y="3973068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 External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88" name="NTT CMDB (Release 1)"/>
          <p:cNvSpPr/>
          <p:nvPr/>
        </p:nvSpPr>
        <p:spPr>
          <a:xfrm>
            <a:off x="4023360" y="4160520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CMDB</a:t>
            </a:r>
            <a:endParaRPr lang="en-US" sz="850" dirty="0"/>
          </a:p>
        </p:txBody>
      </p:sp>
      <p:sp>
        <p:nvSpPr>
          <p:cNvPr id="89" name="HP (Release 1)"/>
          <p:cNvSpPr/>
          <p:nvPr/>
        </p:nvSpPr>
        <p:spPr>
          <a:xfrm>
            <a:off x="4023360" y="4311396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850" dirty="0"/>
          </a:p>
        </p:txBody>
      </p:sp>
      <p:sp>
        <p:nvSpPr>
          <p:cNvPr id="90" name="NTT (Release 3)"/>
          <p:cNvSpPr/>
          <p:nvPr/>
        </p:nvSpPr>
        <p:spPr>
          <a:xfrm>
            <a:off x="8732520" y="400964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</a:t>
            </a:r>
            <a:endParaRPr lang="en-US" sz="850" dirty="0"/>
          </a:p>
        </p:txBody>
      </p:sp>
      <p:sp>
        <p:nvSpPr>
          <p:cNvPr id="91" name="Optus (Release 3)"/>
          <p:cNvSpPr/>
          <p:nvPr/>
        </p:nvSpPr>
        <p:spPr>
          <a:xfrm>
            <a:off x="8732520" y="4160520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Optus</a:t>
            </a:r>
            <a:endParaRPr lang="en-US" sz="850" dirty="0"/>
          </a:p>
        </p:txBody>
      </p:sp>
      <p:sp>
        <p:nvSpPr>
          <p:cNvPr id="92" name="Cognizant (Release 3)"/>
          <p:cNvSpPr/>
          <p:nvPr/>
        </p:nvSpPr>
        <p:spPr>
          <a:xfrm>
            <a:off x="8732520" y="4311396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Cognizant</a:t>
            </a:r>
            <a:endParaRPr lang="en-US" sz="850" dirty="0"/>
          </a:p>
        </p:txBody>
      </p:sp>
      <p:sp>
        <p:nvSpPr>
          <p:cNvPr id="93" name="Accenture (Release 3)"/>
          <p:cNvSpPr/>
          <p:nvPr/>
        </p:nvSpPr>
        <p:spPr>
          <a:xfrm>
            <a:off x="8732520" y="4462272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C9B9F2"/>
          </a:solidFill>
          <a:ln w="6350">
            <a:solidFill>
              <a:srgbClr val="C9B9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1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850" dirty="0"/>
          </a:p>
        </p:txBody>
      </p:sp>
      <p:sp>
        <p:nvSpPr>
          <p:cNvPr id="94" name="Ready Contracts (TBD)"/>
          <p:cNvSpPr/>
          <p:nvPr/>
        </p:nvSpPr>
        <p:spPr>
          <a:xfrm>
            <a:off x="10808208" y="4160520"/>
            <a:ext cx="905256" cy="13258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Contracts</a:t>
            </a:r>
            <a:endParaRPr lang="en-US" sz="850" dirty="0"/>
          </a:p>
        </p:txBody>
      </p:sp>
      <p:sp>
        <p:nvSpPr>
          <p:cNvPr id="95" name="Rhapsody (TBD)"/>
          <p:cNvSpPr/>
          <p:nvPr/>
        </p:nvSpPr>
        <p:spPr>
          <a:xfrm>
            <a:off x="10808208" y="4311396"/>
            <a:ext cx="905256" cy="132588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Rhapsody</a:t>
            </a:r>
            <a:endParaRPr lang="en-US" sz="850" dirty="0"/>
          </a:p>
        </p:txBody>
      </p:sp>
      <p:sp>
        <p:nvSpPr>
          <p:cNvPr id="96" name="Data Migration row"/>
          <p:cNvSpPr/>
          <p:nvPr/>
        </p:nvSpPr>
        <p:spPr>
          <a:xfrm>
            <a:off x="320040" y="4631436"/>
            <a:ext cx="10259568" cy="365760"/>
          </a:xfrm>
          <a:prstGeom prst="rect">
            <a:avLst/>
          </a:prstGeom>
          <a:solidFill>
            <a:srgbClr val="EAF1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Data Migration future divider"/>
          <p:cNvSpPr/>
          <p:nvPr/>
        </p:nvSpPr>
        <p:spPr>
          <a:xfrm>
            <a:off x="10652760" y="4997196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98" name="Data Migration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695444"/>
            <a:ext cx="237744" cy="237744"/>
          </a:xfrm>
          <a:prstGeom prst="rect">
            <a:avLst/>
          </a:prstGeom>
        </p:spPr>
      </p:pic>
      <p:sp>
        <p:nvSpPr>
          <p:cNvPr id="99" name="Data Migration label"/>
          <p:cNvSpPr txBox="1"/>
          <p:nvPr/>
        </p:nvSpPr>
        <p:spPr>
          <a:xfrm>
            <a:off x="777240" y="4631436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000" dirty="0"/>
          </a:p>
        </p:txBody>
      </p:sp>
      <p:sp>
        <p:nvSpPr>
          <p:cNvPr id="100" name="Cortex Archive (Release 1)"/>
          <p:cNvSpPr/>
          <p:nvPr/>
        </p:nvSpPr>
        <p:spPr>
          <a:xfrm>
            <a:off x="3081528" y="4672584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Archive</a:t>
            </a:r>
            <a:endParaRPr lang="en-US" sz="850" dirty="0"/>
          </a:p>
        </p:txBody>
      </p:sp>
      <p:sp>
        <p:nvSpPr>
          <p:cNvPr id="101" name="Cherwell (Release 1)"/>
          <p:cNvSpPr/>
          <p:nvPr/>
        </p:nvSpPr>
        <p:spPr>
          <a:xfrm>
            <a:off x="3081528" y="4823460"/>
            <a:ext cx="868680" cy="132588"/>
          </a:xfrm>
          <a:prstGeom prst="roundRect">
            <a:avLst>
              <a:gd name="adj" fmla="val 20690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Cherwell</a:t>
            </a:r>
            <a:endParaRPr lang="en-US" sz="850" dirty="0"/>
          </a:p>
        </p:txBody>
      </p:sp>
      <p:sp>
        <p:nvSpPr>
          <p:cNvPr id="102" name="ME Asset Discovery row"/>
          <p:cNvSpPr/>
          <p:nvPr/>
        </p:nvSpPr>
        <p:spPr>
          <a:xfrm>
            <a:off x="320040" y="4997196"/>
            <a:ext cx="10259568" cy="365760"/>
          </a:xfrm>
          <a:prstGeom prst="rect">
            <a:avLst/>
          </a:prstGeom>
          <a:solidFill>
            <a:srgbClr val="EEF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ME Asset Discovery future divider"/>
          <p:cNvSpPr/>
          <p:nvPr/>
        </p:nvSpPr>
        <p:spPr>
          <a:xfrm>
            <a:off x="10652760" y="5362956"/>
            <a:ext cx="1216152" cy="0"/>
          </a:xfrm>
          <a:prstGeom prst="line">
            <a:avLst/>
          </a:prstGeom>
          <a:noFill/>
          <a:ln w="9525">
            <a:solidFill>
              <a:srgbClr val="E1E5EB"/>
            </a:solidFill>
            <a:prstDash val="solid"/>
          </a:ln>
        </p:spPr>
      </p:sp>
      <p:pic>
        <p:nvPicPr>
          <p:cNvPr id="104" name="ME Asset Discovery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5061204"/>
            <a:ext cx="237744" cy="237744"/>
          </a:xfrm>
          <a:prstGeom prst="rect">
            <a:avLst/>
          </a:prstGeom>
        </p:spPr>
      </p:pic>
      <p:sp>
        <p:nvSpPr>
          <p:cNvPr id="105" name="ME Asset Discovery label"/>
          <p:cNvSpPr txBox="1"/>
          <p:nvPr/>
        </p:nvSpPr>
        <p:spPr>
          <a:xfrm>
            <a:off x="777240" y="4997196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Asset Discovery</a:t>
            </a:r>
            <a:endParaRPr lang="en-US" sz="1000" dirty="0"/>
          </a:p>
        </p:txBody>
      </p:sp>
      <p:sp>
        <p:nvSpPr>
          <p:cNvPr id="106" name="Agent &amp;amp; Agentless Pilot (Release 1)"/>
          <p:cNvSpPr/>
          <p:nvPr/>
        </p:nvSpPr>
        <p:spPr>
          <a:xfrm>
            <a:off x="3081528" y="5052060"/>
            <a:ext cx="868680" cy="256032"/>
          </a:xfrm>
          <a:prstGeom prst="roundRect">
            <a:avLst>
              <a:gd name="adj" fmla="val 10714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Agentless Pilot</a:t>
            </a:r>
            <a:endParaRPr lang="en-US" sz="850" dirty="0"/>
          </a:p>
        </p:txBody>
      </p:sp>
      <p:sp>
        <p:nvSpPr>
          <p:cNvPr id="107" name="Agent &amp;amp; Agentless Rollout (Release 1)"/>
          <p:cNvSpPr/>
          <p:nvPr/>
        </p:nvSpPr>
        <p:spPr>
          <a:xfrm>
            <a:off x="4023360" y="5052060"/>
            <a:ext cx="868680" cy="256032"/>
          </a:xfrm>
          <a:prstGeom prst="roundRect">
            <a:avLst>
              <a:gd name="adj" fmla="val 10714"/>
            </a:avLst>
          </a:prstGeom>
          <a:solidFill>
            <a:srgbClr val="A9CBF2"/>
          </a:solidFill>
          <a:ln w="6350">
            <a:solidFill>
              <a:srgbClr val="A9CB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Agentless Rollout</a:t>
            </a:r>
            <a:endParaRPr lang="en-US" sz="850" dirty="0"/>
          </a:p>
        </p:txBody>
      </p:sp>
      <p:sp>
        <p:nvSpPr>
          <p:cNvPr id="108" name="Row gridline 1"/>
          <p:cNvSpPr/>
          <p:nvPr/>
        </p:nvSpPr>
        <p:spPr>
          <a:xfrm>
            <a:off x="3044952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9" name="Row gridline 2"/>
          <p:cNvSpPr/>
          <p:nvPr/>
        </p:nvSpPr>
        <p:spPr>
          <a:xfrm>
            <a:off x="3986784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0" name="Row gridline 3"/>
          <p:cNvSpPr/>
          <p:nvPr/>
        </p:nvSpPr>
        <p:spPr>
          <a:xfrm>
            <a:off x="4928616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1" name="Row gridline 4"/>
          <p:cNvSpPr/>
          <p:nvPr/>
        </p:nvSpPr>
        <p:spPr>
          <a:xfrm>
            <a:off x="5870448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2" name="Row gridline 5"/>
          <p:cNvSpPr/>
          <p:nvPr/>
        </p:nvSpPr>
        <p:spPr>
          <a:xfrm>
            <a:off x="6812280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3" name="Row gridline 6"/>
          <p:cNvSpPr/>
          <p:nvPr/>
        </p:nvSpPr>
        <p:spPr>
          <a:xfrm>
            <a:off x="7754112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4" name="Row gridline 7"/>
          <p:cNvSpPr/>
          <p:nvPr/>
        </p:nvSpPr>
        <p:spPr>
          <a:xfrm>
            <a:off x="8695944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5" name="Row gridline 8"/>
          <p:cNvSpPr/>
          <p:nvPr/>
        </p:nvSpPr>
        <p:spPr>
          <a:xfrm>
            <a:off x="9637776" y="1481328"/>
            <a:ext cx="0" cy="3881628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16" name="Label divider"/>
          <p:cNvSpPr/>
          <p:nvPr/>
        </p:nvSpPr>
        <p:spPr>
          <a:xfrm>
            <a:off x="2103120" y="1481328"/>
            <a:ext cx="0" cy="3881628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17" name="Milestone panel"/>
          <p:cNvSpPr/>
          <p:nvPr/>
        </p:nvSpPr>
        <p:spPr>
          <a:xfrm>
            <a:off x="320040" y="5426964"/>
            <a:ext cx="11548872" cy="1065276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2"/>
            </a:solidFill>
            <a:prstDash val="solid"/>
          </a:ln>
        </p:spPr>
      </p:sp>
      <p:pic>
        <p:nvPicPr>
          <p:cNvPr id="118" name="Milestone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" y="5609844"/>
            <a:ext cx="219456" cy="219456"/>
          </a:xfrm>
          <a:prstGeom prst="rect">
            <a:avLst/>
          </a:prstGeom>
        </p:spPr>
      </p:pic>
      <p:sp>
        <p:nvSpPr>
          <p:cNvPr id="119" name="Milestone label"/>
          <p:cNvSpPr txBox="1"/>
          <p:nvPr/>
        </p:nvSpPr>
        <p:spPr>
          <a:xfrm>
            <a:off x="731520" y="55549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Timeline</a:t>
            </a:r>
            <a:endParaRPr lang="en-US" sz="1300" dirty="0"/>
          </a:p>
        </p:txBody>
      </p:sp>
      <p:sp>
        <p:nvSpPr>
          <p:cNvPr id="120" name="Milestone axis"/>
          <p:cNvSpPr/>
          <p:nvPr/>
        </p:nvSpPr>
        <p:spPr>
          <a:xfrm>
            <a:off x="2482596" y="5692140"/>
            <a:ext cx="9249156" cy="0"/>
          </a:xfrm>
          <a:prstGeom prst="line">
            <a:avLst/>
          </a:prstGeom>
          <a:noFill/>
          <a:ln w="19050">
            <a:solidFill>
              <a:srgbClr val="8A9BB5"/>
            </a:solidFill>
            <a:prstDash val="solid"/>
            <a:tailEnd type="triangle"/>
          </a:ln>
        </p:spPr>
      </p:sp>
      <p:sp>
        <p:nvSpPr>
          <p:cNvPr id="121" name="Milestone Oct-26 label"/>
          <p:cNvSpPr txBox="1"/>
          <p:nvPr/>
        </p:nvSpPr>
        <p:spPr>
          <a:xfrm>
            <a:off x="2208276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Oct-26</a:t>
            </a:r>
            <a:endParaRPr lang="en-US" sz="900" dirty="0"/>
          </a:p>
        </p:txBody>
      </p:sp>
      <p:sp>
        <p:nvSpPr>
          <p:cNvPr id="122" name="Milestone Oct-26 marker"/>
          <p:cNvSpPr/>
          <p:nvPr/>
        </p:nvSpPr>
        <p:spPr>
          <a:xfrm>
            <a:off x="2528316" y="5646420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Milestone Nov-26 label"/>
          <p:cNvSpPr txBox="1"/>
          <p:nvPr/>
        </p:nvSpPr>
        <p:spPr>
          <a:xfrm>
            <a:off x="3150108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Nov-26</a:t>
            </a:r>
            <a:endParaRPr lang="en-US" sz="900" dirty="0"/>
          </a:p>
        </p:txBody>
      </p:sp>
      <p:sp>
        <p:nvSpPr>
          <p:cNvPr id="124" name="Milestone Nov-26 marker"/>
          <p:cNvSpPr/>
          <p:nvPr/>
        </p:nvSpPr>
        <p:spPr>
          <a:xfrm>
            <a:off x="3911651" y="5632704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5" name="Milestones Nov-26"/>
          <p:cNvSpPr txBox="1"/>
          <p:nvPr/>
        </p:nvSpPr>
        <p:spPr>
          <a:xfrm>
            <a:off x="3451860" y="5765292"/>
            <a:ext cx="9144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SDP Release 1 Go Live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Agentless Pilot</a:t>
            </a:r>
            <a:endParaRPr lang="en-US" sz="800" dirty="0"/>
          </a:p>
        </p:txBody>
      </p:sp>
      <p:sp>
        <p:nvSpPr>
          <p:cNvPr id="126" name="Milestone Dec-26 label"/>
          <p:cNvSpPr txBox="1"/>
          <p:nvPr/>
        </p:nvSpPr>
        <p:spPr>
          <a:xfrm>
            <a:off x="4091940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Dec-26</a:t>
            </a:r>
            <a:endParaRPr lang="en-US" sz="900" dirty="0"/>
          </a:p>
        </p:txBody>
      </p:sp>
      <p:sp>
        <p:nvSpPr>
          <p:cNvPr id="127" name="Milestone Dec-26 marker"/>
          <p:cNvSpPr/>
          <p:nvPr/>
        </p:nvSpPr>
        <p:spPr>
          <a:xfrm>
            <a:off x="4853989" y="5632704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8" name="Milestones Dec-26"/>
          <p:cNvSpPr txBox="1"/>
          <p:nvPr/>
        </p:nvSpPr>
        <p:spPr>
          <a:xfrm>
            <a:off x="4393692" y="5765292"/>
            <a:ext cx="9144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Agentless Rollout (may slip to Jan)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Cherwell Shutdown</a:t>
            </a:r>
            <a:endParaRPr lang="en-US" sz="800" dirty="0"/>
          </a:p>
        </p:txBody>
      </p:sp>
      <p:sp>
        <p:nvSpPr>
          <p:cNvPr id="129" name="Milestone Jan-27 label"/>
          <p:cNvSpPr txBox="1"/>
          <p:nvPr/>
        </p:nvSpPr>
        <p:spPr>
          <a:xfrm>
            <a:off x="5033772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Jan-27</a:t>
            </a:r>
            <a:endParaRPr lang="en-US" sz="900" dirty="0"/>
          </a:p>
        </p:txBody>
      </p:sp>
      <p:sp>
        <p:nvSpPr>
          <p:cNvPr id="130" name="Milestone Jan-27 marker"/>
          <p:cNvSpPr/>
          <p:nvPr/>
        </p:nvSpPr>
        <p:spPr>
          <a:xfrm>
            <a:off x="5795821" y="5632704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1" name="Milestones Jan-27"/>
          <p:cNvSpPr txBox="1"/>
          <p:nvPr/>
        </p:nvSpPr>
        <p:spPr>
          <a:xfrm>
            <a:off x="5335524" y="5765292"/>
            <a:ext cx="9144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Asset Record configured (may slip to Feb)</a:t>
            </a:r>
            <a:endParaRPr lang="en-US" sz="800" dirty="0"/>
          </a:p>
        </p:txBody>
      </p:sp>
      <p:sp>
        <p:nvSpPr>
          <p:cNvPr id="132" name="Milestone Feb-27 label"/>
          <p:cNvSpPr txBox="1"/>
          <p:nvPr/>
        </p:nvSpPr>
        <p:spPr>
          <a:xfrm>
            <a:off x="5975604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Feb-27</a:t>
            </a:r>
            <a:endParaRPr lang="en-US" sz="900" dirty="0"/>
          </a:p>
        </p:txBody>
      </p:sp>
      <p:sp>
        <p:nvSpPr>
          <p:cNvPr id="133" name="Milestone Feb-27 marker"/>
          <p:cNvSpPr/>
          <p:nvPr/>
        </p:nvSpPr>
        <p:spPr>
          <a:xfrm>
            <a:off x="6736026" y="5632704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Milestones Feb-27"/>
          <p:cNvSpPr txBox="1"/>
          <p:nvPr/>
        </p:nvSpPr>
        <p:spPr>
          <a:xfrm>
            <a:off x="6277356" y="5765292"/>
            <a:ext cx="173736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SDP Release 2 Go Live</a:t>
            </a:r>
            <a:endParaRPr lang="en-US" sz="800" dirty="0"/>
          </a:p>
          <a:p>
            <a:pPr marL="114300" indent="-114300">
              <a:buSzPct val="100000"/>
              <a:buChar char="●"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LivePro Shutdown</a:t>
            </a:r>
            <a:endParaRPr lang="en-US" sz="800" dirty="0"/>
          </a:p>
        </p:txBody>
      </p:sp>
      <p:sp>
        <p:nvSpPr>
          <p:cNvPr id="135" name="Milestone Mar-27 label"/>
          <p:cNvSpPr txBox="1"/>
          <p:nvPr/>
        </p:nvSpPr>
        <p:spPr>
          <a:xfrm>
            <a:off x="6917436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Mar-27</a:t>
            </a:r>
            <a:endParaRPr lang="en-US" sz="900" dirty="0"/>
          </a:p>
        </p:txBody>
      </p:sp>
      <p:sp>
        <p:nvSpPr>
          <p:cNvPr id="136" name="Milestone Mar-27 marker"/>
          <p:cNvSpPr/>
          <p:nvPr/>
        </p:nvSpPr>
        <p:spPr>
          <a:xfrm>
            <a:off x="7237476" y="5646420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Milestone Apr-27 label"/>
          <p:cNvSpPr txBox="1"/>
          <p:nvPr/>
        </p:nvSpPr>
        <p:spPr>
          <a:xfrm>
            <a:off x="7859268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Apr-27</a:t>
            </a:r>
            <a:endParaRPr lang="en-US" sz="900" dirty="0"/>
          </a:p>
        </p:txBody>
      </p:sp>
      <p:sp>
        <p:nvSpPr>
          <p:cNvPr id="138" name="Milestone Apr-27 marker"/>
          <p:cNvSpPr/>
          <p:nvPr/>
        </p:nvSpPr>
        <p:spPr>
          <a:xfrm>
            <a:off x="8179308" y="5646420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Milestone May-27 label"/>
          <p:cNvSpPr txBox="1"/>
          <p:nvPr/>
        </p:nvSpPr>
        <p:spPr>
          <a:xfrm>
            <a:off x="8801100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May-27</a:t>
            </a:r>
            <a:endParaRPr lang="en-US" sz="900" dirty="0"/>
          </a:p>
        </p:txBody>
      </p:sp>
      <p:sp>
        <p:nvSpPr>
          <p:cNvPr id="140" name="Milestone May-27 marker"/>
          <p:cNvSpPr/>
          <p:nvPr/>
        </p:nvSpPr>
        <p:spPr>
          <a:xfrm>
            <a:off x="9563149" y="5632704"/>
            <a:ext cx="118872" cy="118872"/>
          </a:xfrm>
          <a:prstGeom prst="ellipse">
            <a:avLst/>
          </a:prstGeom>
          <a:solidFill>
            <a:srgbClr val="1428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Milestones May-27"/>
          <p:cNvSpPr txBox="1"/>
          <p:nvPr/>
        </p:nvSpPr>
        <p:spPr>
          <a:xfrm>
            <a:off x="9102852" y="5765292"/>
            <a:ext cx="173736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●"/>
            </a:pPr>
            <a:r>
              <a:rPr lang="en-US" sz="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SDP Release 3 Go Live</a:t>
            </a:r>
            <a:endParaRPr lang="en-US" sz="800" dirty="0"/>
          </a:p>
        </p:txBody>
      </p:sp>
      <p:sp>
        <p:nvSpPr>
          <p:cNvPr id="142" name="Milestone Jun-27 label"/>
          <p:cNvSpPr txBox="1"/>
          <p:nvPr/>
        </p:nvSpPr>
        <p:spPr>
          <a:xfrm>
            <a:off x="9742932" y="54726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Jun-27</a:t>
            </a:r>
            <a:endParaRPr lang="en-US" sz="900" dirty="0"/>
          </a:p>
        </p:txBody>
      </p:sp>
      <p:sp>
        <p:nvSpPr>
          <p:cNvPr id="143" name="Milestone Jun-27 marker"/>
          <p:cNvSpPr/>
          <p:nvPr/>
        </p:nvSpPr>
        <p:spPr>
          <a:xfrm>
            <a:off x="10062972" y="5646420"/>
            <a:ext cx="91440" cy="91440"/>
          </a:xfrm>
          <a:prstGeom prst="ellipse">
            <a:avLst/>
          </a:prstGeom>
          <a:solidFill>
            <a:srgbClr val="A3B1C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Footnote"/>
          <p:cNvSpPr txBox="1"/>
          <p:nvPr/>
        </p:nvSpPr>
        <p:spPr>
          <a:xfrm>
            <a:off x="320040" y="6556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shown in the month of their planned end date (as per “End” column).</a:t>
            </a:r>
            <a:endParaRPr lang="en-US" sz="900" dirty="0"/>
          </a:p>
        </p:txBody>
      </p:sp>
      <p:sp>
        <p:nvSpPr>
          <p:cNvPr id="145" name="Legend Release 1 swatch"/>
          <p:cNvSpPr/>
          <p:nvPr/>
        </p:nvSpPr>
        <p:spPr>
          <a:xfrm>
            <a:off x="571500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A9CBF2"/>
          </a:solidFill>
          <a:ln w="6350">
            <a:solidFill>
              <a:srgbClr val="A9CBF2"/>
            </a:solidFill>
            <a:prstDash val="solid"/>
          </a:ln>
        </p:spPr>
      </p:sp>
      <p:sp>
        <p:nvSpPr>
          <p:cNvPr id="146" name="Legend Release 1"/>
          <p:cNvSpPr txBox="1"/>
          <p:nvPr/>
        </p:nvSpPr>
        <p:spPr>
          <a:xfrm>
            <a:off x="604418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1</a:t>
            </a:r>
            <a:endParaRPr lang="en-US" sz="900" dirty="0"/>
          </a:p>
        </p:txBody>
      </p:sp>
      <p:sp>
        <p:nvSpPr>
          <p:cNvPr id="147" name="Legend Release 2 swatch"/>
          <p:cNvSpPr/>
          <p:nvPr/>
        </p:nvSpPr>
        <p:spPr>
          <a:xfrm>
            <a:off x="667512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A8DCD1"/>
          </a:solidFill>
          <a:ln w="6350">
            <a:solidFill>
              <a:srgbClr val="A8DCD1"/>
            </a:solidFill>
            <a:prstDash val="solid"/>
          </a:ln>
        </p:spPr>
      </p:sp>
      <p:sp>
        <p:nvSpPr>
          <p:cNvPr id="148" name="Legend Release 2"/>
          <p:cNvSpPr txBox="1"/>
          <p:nvPr/>
        </p:nvSpPr>
        <p:spPr>
          <a:xfrm>
            <a:off x="700430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2</a:t>
            </a:r>
            <a:endParaRPr lang="en-US" sz="900" dirty="0"/>
          </a:p>
        </p:txBody>
      </p:sp>
      <p:sp>
        <p:nvSpPr>
          <p:cNvPr id="149" name="Legend Release 3 swatch"/>
          <p:cNvSpPr/>
          <p:nvPr/>
        </p:nvSpPr>
        <p:spPr>
          <a:xfrm>
            <a:off x="763524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C9B9F2"/>
          </a:solidFill>
          <a:ln w="6350">
            <a:solidFill>
              <a:srgbClr val="C9B9F2"/>
            </a:solidFill>
            <a:prstDash val="solid"/>
          </a:ln>
        </p:spPr>
      </p:sp>
      <p:sp>
        <p:nvSpPr>
          <p:cNvPr id="150" name="Legend Release 3"/>
          <p:cNvSpPr txBox="1"/>
          <p:nvPr/>
        </p:nvSpPr>
        <p:spPr>
          <a:xfrm>
            <a:off x="796442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3</a:t>
            </a:r>
            <a:endParaRPr lang="en-US" sz="900" dirty="0"/>
          </a:p>
        </p:txBody>
      </p:sp>
      <p:sp>
        <p:nvSpPr>
          <p:cNvPr id="151" name="Legend TBD swatch"/>
          <p:cNvSpPr/>
          <p:nvPr/>
        </p:nvSpPr>
        <p:spPr>
          <a:xfrm>
            <a:off x="8595360" y="6574536"/>
            <a:ext cx="27432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6B7280"/>
            </a:solidFill>
            <a:prstDash val="dash"/>
          </a:ln>
        </p:spPr>
      </p:sp>
      <p:sp>
        <p:nvSpPr>
          <p:cNvPr id="152" name="Legend TBD"/>
          <p:cNvSpPr txBox="1"/>
          <p:nvPr/>
        </p:nvSpPr>
        <p:spPr>
          <a:xfrm>
            <a:off x="8924544" y="6556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 Roadmap">
  <a:themeElements>
    <a:clrScheme name="ME Roadmap">
      <a:dk1>
        <a:srgbClr val="1F2937"/>
      </a:dk1>
      <a:lt1>
        <a:srgbClr val="FFFFFF"/>
      </a:lt1>
      <a:dk2>
        <a:srgbClr val="14285A"/>
      </a:dk2>
      <a:lt2>
        <a:srgbClr val="F1F4F9"/>
      </a:lt2>
      <a:accent1>
        <a:srgbClr val="7FA9E8"/>
      </a:accent1>
      <a:accent2>
        <a:srgbClr val="8FD3C1"/>
      </a:accent2>
      <a:accent3>
        <a:srgbClr val="B49CEB"/>
      </a:accent3>
      <a:accent4>
        <a:srgbClr val="C62828"/>
      </a:accent4>
      <a:accent5>
        <a:srgbClr val="4F46E5"/>
      </a:accent5>
      <a:accent6>
        <a:srgbClr val="B8692E"/>
      </a:accent6>
      <a:hlink>
        <a:srgbClr val="2F6FDE"/>
      </a:hlink>
      <a:folHlink>
        <a:srgbClr val="6B7280"/>
      </a:folHlink>
    </a:clrScheme>
    <a:fontScheme name="ME Roadma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ManageEngine Technical Delivery Roadmap</dc:title>
  <dc:subject>PptxGenJS Presentation</dc:subject>
  <dc:creator>PptxGenJS</dc:creator>
  <cp:lastModifiedBy>PptxGenJS</cp:lastModifiedBy>
  <cp:revision>1</cp:revision>
  <dcterms:created xsi:type="dcterms:W3CDTF">2026-10-27T23:50:43Z</dcterms:created>
  <dcterms:modified xsi:type="dcterms:W3CDTF">2026-10-27T23:50:43Z</dcterms:modified>
</cp:coreProperties>
</file>