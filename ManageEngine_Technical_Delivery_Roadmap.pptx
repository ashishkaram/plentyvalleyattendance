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oadmap" id="{eb263892-b7a2-a78b-660c-cf51115e60df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ManageEngine_Interface_Tracker_v2.xlsx. Each interface is placed in the month of its planned End date and coloured by the release window that month falls in (≤Dec-26 Release 1, Jan–Feb-27 Release 2, Mar–May-27 Release 3). Phase = TBD items sit in the Future / TBD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adma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85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0040" y="548640"/>
            <a:ext cx="54864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4285A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9125712" y="6556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Confidential  |  For Internal Use Only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1097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85A"/>
                </a:solidFill>
              </a:rPr>
              <a:t>ManageEngine Technical Delivery Roadmap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0040" y="548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85A"/>
                </a:solidFill>
              </a:rPr>
              <a:t>Oct 2026 – Jun 2027</a:t>
            </a:r>
            <a:endParaRPr lang="en-US" sz="1500" dirty="0"/>
          </a:p>
        </p:txBody>
      </p:sp>
      <p:sp>
        <p:nvSpPr>
          <p:cNvPr id="4" name="Releases panel"/>
          <p:cNvSpPr/>
          <p:nvPr/>
        </p:nvSpPr>
        <p:spPr>
          <a:xfrm>
            <a:off x="320040" y="841248"/>
            <a:ext cx="10259568" cy="566928"/>
          </a:xfrm>
          <a:prstGeom prst="rect">
            <a:avLst/>
          </a:prstGeom>
          <a:solidFill>
            <a:srgbClr val="F3F7FD"/>
          </a:solidFill>
          <a:ln w="9525">
            <a:solidFill>
              <a:srgbClr val="DCE5F2"/>
            </a:solidFill>
            <a:prstDash val="solid"/>
          </a:ln>
        </p:spPr>
      </p:sp>
      <p:sp>
        <p:nvSpPr>
          <p:cNvPr id="5" name="Releases label"/>
          <p:cNvSpPr txBox="1"/>
          <p:nvPr/>
        </p:nvSpPr>
        <p:spPr>
          <a:xfrm>
            <a:off x="429768" y="8412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600" dirty="0"/>
          </a:p>
        </p:txBody>
      </p:sp>
      <p:sp>
        <p:nvSpPr>
          <p:cNvPr id="6" name="Release gridline 0"/>
          <p:cNvSpPr/>
          <p:nvPr/>
        </p:nvSpPr>
        <p:spPr>
          <a:xfrm>
            <a:off x="2103120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7" name="Release gridline 1"/>
          <p:cNvSpPr/>
          <p:nvPr/>
        </p:nvSpPr>
        <p:spPr>
          <a:xfrm>
            <a:off x="3044952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8" name="Release gridline 2"/>
          <p:cNvSpPr/>
          <p:nvPr/>
        </p:nvSpPr>
        <p:spPr>
          <a:xfrm>
            <a:off x="3986784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9" name="Release gridline 3"/>
          <p:cNvSpPr/>
          <p:nvPr/>
        </p:nvSpPr>
        <p:spPr>
          <a:xfrm>
            <a:off x="4928616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0" name="Release gridline 4"/>
          <p:cNvSpPr/>
          <p:nvPr/>
        </p:nvSpPr>
        <p:spPr>
          <a:xfrm>
            <a:off x="5870448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1" name="Release gridline 5"/>
          <p:cNvSpPr/>
          <p:nvPr/>
        </p:nvSpPr>
        <p:spPr>
          <a:xfrm>
            <a:off x="6812280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2" name="Release gridline 6"/>
          <p:cNvSpPr/>
          <p:nvPr/>
        </p:nvSpPr>
        <p:spPr>
          <a:xfrm>
            <a:off x="7754112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3" name="Release gridline 7"/>
          <p:cNvSpPr/>
          <p:nvPr/>
        </p:nvSpPr>
        <p:spPr>
          <a:xfrm>
            <a:off x="8695944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4" name="Release gridline 8"/>
          <p:cNvSpPr/>
          <p:nvPr/>
        </p:nvSpPr>
        <p:spPr>
          <a:xfrm>
            <a:off x="9637776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5" name="Release gridline 9"/>
          <p:cNvSpPr/>
          <p:nvPr/>
        </p:nvSpPr>
        <p:spPr>
          <a:xfrm>
            <a:off x="10579608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6" name="Release 1 bar"/>
          <p:cNvSpPr/>
          <p:nvPr/>
        </p:nvSpPr>
        <p:spPr>
          <a:xfrm>
            <a:off x="2139696" y="877824"/>
            <a:ext cx="2752344" cy="155448"/>
          </a:xfrm>
          <a:prstGeom prst="roundRect">
            <a:avLst>
              <a:gd name="adj" fmla="val 23529"/>
            </a:avLst>
          </a:prstGeom>
          <a:solidFill>
            <a:srgbClr val="7FA9E8"/>
          </a:solidFill>
          <a:ln w="6350">
            <a:solidFill>
              <a:srgbClr val="7FA9E8"/>
            </a:solidFill>
            <a:prstDash val="solid"/>
          </a:ln>
        </p:spPr>
      </p:sp>
      <p:sp>
        <p:nvSpPr>
          <p:cNvPr id="17" name="Release 1 label"/>
          <p:cNvSpPr txBox="1"/>
          <p:nvPr/>
        </p:nvSpPr>
        <p:spPr>
          <a:xfrm>
            <a:off x="2139696" y="877824"/>
            <a:ext cx="27523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   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 – Dec 2026</a:t>
            </a:r>
            <a:endParaRPr lang="en-US" sz="1000" dirty="0"/>
          </a:p>
        </p:txBody>
      </p:sp>
      <p:sp>
        <p:nvSpPr>
          <p:cNvPr id="18" name="Release 2 bar"/>
          <p:cNvSpPr/>
          <p:nvPr/>
        </p:nvSpPr>
        <p:spPr>
          <a:xfrm>
            <a:off x="3081528" y="1051560"/>
            <a:ext cx="3694176" cy="155448"/>
          </a:xfrm>
          <a:prstGeom prst="roundRect">
            <a:avLst>
              <a:gd name="adj" fmla="val 23529"/>
            </a:avLst>
          </a:prstGeom>
          <a:solidFill>
            <a:srgbClr val="9ED9C9"/>
          </a:solidFill>
          <a:ln w="6350">
            <a:solidFill>
              <a:srgbClr val="9ED9C9"/>
            </a:solidFill>
            <a:prstDash val="solid"/>
          </a:ln>
        </p:spPr>
      </p:sp>
      <p:sp>
        <p:nvSpPr>
          <p:cNvPr id="19" name="Release 2 label"/>
          <p:cNvSpPr txBox="1"/>
          <p:nvPr/>
        </p:nvSpPr>
        <p:spPr>
          <a:xfrm>
            <a:off x="3081528" y="1051560"/>
            <a:ext cx="3694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   </a:t>
            </a:r>
            <a:pPr algn="ctr" indent="0" marL="0">
              <a:buNone/>
            </a:pPr>
            <a:r>
              <a:rPr lang="en-US" sz="9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 – Feb 2027</a:t>
            </a:r>
            <a:endParaRPr lang="en-US" sz="1000" dirty="0"/>
          </a:p>
        </p:txBody>
      </p:sp>
      <p:sp>
        <p:nvSpPr>
          <p:cNvPr id="20" name="Release 3 bar"/>
          <p:cNvSpPr/>
          <p:nvPr/>
        </p:nvSpPr>
        <p:spPr>
          <a:xfrm>
            <a:off x="4965192" y="1225296"/>
            <a:ext cx="4636008" cy="155448"/>
          </a:xfrm>
          <a:prstGeom prst="roundRect">
            <a:avLst>
              <a:gd name="adj" fmla="val 23529"/>
            </a:avLst>
          </a:prstGeom>
          <a:solidFill>
            <a:srgbClr val="B49CEB"/>
          </a:solidFill>
          <a:ln w="6350">
            <a:solidFill>
              <a:srgbClr val="B49CEB"/>
            </a:solidFill>
            <a:prstDash val="solid"/>
          </a:ln>
        </p:spPr>
      </p:sp>
      <p:sp>
        <p:nvSpPr>
          <p:cNvPr id="21" name="Release 3 label"/>
          <p:cNvSpPr txBox="1"/>
          <p:nvPr/>
        </p:nvSpPr>
        <p:spPr>
          <a:xfrm>
            <a:off x="4965192" y="1225296"/>
            <a:ext cx="4636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   </a:t>
            </a:r>
            <a:pPr algn="ctr" indent="0" marL="0">
              <a:buNone/>
            </a:pPr>
            <a:r>
              <a:rPr lang="en-US" sz="90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 – May 2027</a:t>
            </a:r>
            <a:endParaRPr lang="en-US" sz="1000" dirty="0"/>
          </a:p>
        </p:txBody>
      </p:sp>
      <p:sp>
        <p:nvSpPr>
          <p:cNvPr id="22" name="Header row"/>
          <p:cNvSpPr/>
          <p:nvPr/>
        </p:nvSpPr>
        <p:spPr>
          <a:xfrm>
            <a:off x="320040" y="1463040"/>
            <a:ext cx="10259568" cy="237744"/>
          </a:xfrm>
          <a:prstGeom prst="rect">
            <a:avLst/>
          </a:prstGeom>
          <a:solidFill>
            <a:srgbClr val="E4E9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3" name="Header category"/>
          <p:cNvSpPr txBox="1"/>
          <p:nvPr/>
        </p:nvSpPr>
        <p:spPr>
          <a:xfrm>
            <a:off x="429768" y="146304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Category</a:t>
            </a:r>
            <a:endParaRPr lang="en-US" sz="1100" dirty="0"/>
          </a:p>
        </p:txBody>
      </p:sp>
      <p:sp>
        <p:nvSpPr>
          <p:cNvPr id="24" name="Header Oct-26"/>
          <p:cNvSpPr txBox="1"/>
          <p:nvPr/>
        </p:nvSpPr>
        <p:spPr>
          <a:xfrm>
            <a:off x="2103120" y="14630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Oct-26</a:t>
            </a:r>
            <a:endParaRPr lang="en-US" sz="1100" dirty="0"/>
          </a:p>
        </p:txBody>
      </p:sp>
      <p:sp>
        <p:nvSpPr>
          <p:cNvPr id="25" name="Header Nov-26"/>
          <p:cNvSpPr txBox="1"/>
          <p:nvPr/>
        </p:nvSpPr>
        <p:spPr>
          <a:xfrm>
            <a:off x="3044952" y="14630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Nov-26</a:t>
            </a:r>
            <a:endParaRPr lang="en-US" sz="1100" dirty="0"/>
          </a:p>
        </p:txBody>
      </p:sp>
      <p:sp>
        <p:nvSpPr>
          <p:cNvPr id="26" name="Header Dec-26"/>
          <p:cNvSpPr txBox="1"/>
          <p:nvPr/>
        </p:nvSpPr>
        <p:spPr>
          <a:xfrm>
            <a:off x="3986784" y="14630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Dec-26</a:t>
            </a:r>
            <a:endParaRPr lang="en-US" sz="1100" dirty="0"/>
          </a:p>
        </p:txBody>
      </p:sp>
      <p:sp>
        <p:nvSpPr>
          <p:cNvPr id="27" name="Header Jan-27"/>
          <p:cNvSpPr txBox="1"/>
          <p:nvPr/>
        </p:nvSpPr>
        <p:spPr>
          <a:xfrm>
            <a:off x="4928616" y="14630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Jan-27</a:t>
            </a:r>
            <a:endParaRPr lang="en-US" sz="1100" dirty="0"/>
          </a:p>
        </p:txBody>
      </p:sp>
      <p:sp>
        <p:nvSpPr>
          <p:cNvPr id="28" name="Header Feb-27"/>
          <p:cNvSpPr txBox="1"/>
          <p:nvPr/>
        </p:nvSpPr>
        <p:spPr>
          <a:xfrm>
            <a:off x="5870448" y="14630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Feb-27</a:t>
            </a:r>
            <a:endParaRPr lang="en-US" sz="1100" dirty="0"/>
          </a:p>
        </p:txBody>
      </p:sp>
      <p:sp>
        <p:nvSpPr>
          <p:cNvPr id="29" name="Header Mar-27"/>
          <p:cNvSpPr txBox="1"/>
          <p:nvPr/>
        </p:nvSpPr>
        <p:spPr>
          <a:xfrm>
            <a:off x="6812280" y="14630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Mar-27</a:t>
            </a:r>
            <a:endParaRPr lang="en-US" sz="1100" dirty="0"/>
          </a:p>
        </p:txBody>
      </p:sp>
      <p:sp>
        <p:nvSpPr>
          <p:cNvPr id="30" name="Header Apr-27"/>
          <p:cNvSpPr txBox="1"/>
          <p:nvPr/>
        </p:nvSpPr>
        <p:spPr>
          <a:xfrm>
            <a:off x="7754112" y="14630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Apr-27</a:t>
            </a:r>
            <a:endParaRPr lang="en-US" sz="1100" dirty="0"/>
          </a:p>
        </p:txBody>
      </p:sp>
      <p:sp>
        <p:nvSpPr>
          <p:cNvPr id="31" name="Header May-27"/>
          <p:cNvSpPr txBox="1"/>
          <p:nvPr/>
        </p:nvSpPr>
        <p:spPr>
          <a:xfrm>
            <a:off x="8695944" y="14630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May-27</a:t>
            </a:r>
            <a:endParaRPr lang="en-US" sz="1100" dirty="0"/>
          </a:p>
        </p:txBody>
      </p:sp>
      <p:sp>
        <p:nvSpPr>
          <p:cNvPr id="32" name="Header Jun-27"/>
          <p:cNvSpPr txBox="1"/>
          <p:nvPr/>
        </p:nvSpPr>
        <p:spPr>
          <a:xfrm>
            <a:off x="9637776" y="14630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Jun-27</a:t>
            </a:r>
            <a:endParaRPr lang="en-US" sz="1100" dirty="0"/>
          </a:p>
        </p:txBody>
      </p:sp>
      <p:sp>
        <p:nvSpPr>
          <p:cNvPr id="33" name="Future panel"/>
          <p:cNvSpPr/>
          <p:nvPr/>
        </p:nvSpPr>
        <p:spPr>
          <a:xfrm>
            <a:off x="10652760" y="1463040"/>
            <a:ext cx="1216152" cy="4041648"/>
          </a:xfrm>
          <a:prstGeom prst="rect">
            <a:avLst/>
          </a:prstGeom>
          <a:solidFill>
            <a:srgbClr val="F1F3F6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4" name="Future header"/>
          <p:cNvSpPr/>
          <p:nvPr/>
        </p:nvSpPr>
        <p:spPr>
          <a:xfrm>
            <a:off x="10652760" y="1463040"/>
            <a:ext cx="1216152" cy="237744"/>
          </a:xfrm>
          <a:prstGeom prst="rect">
            <a:avLst/>
          </a:prstGeom>
          <a:solidFill>
            <a:srgbClr val="E4E9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35" name="Future header label"/>
          <p:cNvSpPr txBox="1"/>
          <p:nvPr/>
        </p:nvSpPr>
        <p:spPr>
          <a:xfrm>
            <a:off x="10652760" y="1463040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/ TBD</a:t>
            </a:r>
            <a:endParaRPr lang="en-US" sz="1100" dirty="0"/>
          </a:p>
        </p:txBody>
      </p:sp>
      <p:sp>
        <p:nvSpPr>
          <p:cNvPr id="36" name="Identity &amp; User Management row"/>
          <p:cNvSpPr/>
          <p:nvPr/>
        </p:nvSpPr>
        <p:spPr>
          <a:xfrm>
            <a:off x="320040" y="1700784"/>
            <a:ext cx="10259568" cy="493776"/>
          </a:xfrm>
          <a:prstGeom prst="rect">
            <a:avLst/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Identity &amp; User Management future divider"/>
          <p:cNvSpPr/>
          <p:nvPr/>
        </p:nvSpPr>
        <p:spPr>
          <a:xfrm>
            <a:off x="10652760" y="2194560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38" name="Identity &amp; User Managem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828800"/>
            <a:ext cx="237744" cy="237744"/>
          </a:xfrm>
          <a:prstGeom prst="rect">
            <a:avLst/>
          </a:prstGeom>
        </p:spPr>
      </p:pic>
      <p:sp>
        <p:nvSpPr>
          <p:cNvPr id="39" name="Identity &amp;amp; User Management label"/>
          <p:cNvSpPr txBox="1"/>
          <p:nvPr/>
        </p:nvSpPr>
        <p:spPr>
          <a:xfrm>
            <a:off x="777240" y="1700784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000" dirty="0"/>
          </a:p>
        </p:txBody>
      </p:sp>
      <p:sp>
        <p:nvSpPr>
          <p:cNvPr id="40" name="Entra ID (Release 1)"/>
          <p:cNvSpPr/>
          <p:nvPr/>
        </p:nvSpPr>
        <p:spPr>
          <a:xfrm>
            <a:off x="3081528" y="1810512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800" dirty="0"/>
          </a:p>
        </p:txBody>
      </p:sp>
      <p:sp>
        <p:nvSpPr>
          <p:cNvPr id="41" name="Active Directory (Release 1)"/>
          <p:cNvSpPr/>
          <p:nvPr/>
        </p:nvSpPr>
        <p:spPr>
          <a:xfrm>
            <a:off x="3081528" y="1956816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800" dirty="0"/>
          </a:p>
        </p:txBody>
      </p:sp>
      <p:sp>
        <p:nvSpPr>
          <p:cNvPr id="42" name="Workday (Release 2)"/>
          <p:cNvSpPr/>
          <p:nvPr/>
        </p:nvSpPr>
        <p:spPr>
          <a:xfrm>
            <a:off x="5907024" y="1737360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800" dirty="0"/>
          </a:p>
        </p:txBody>
      </p:sp>
      <p:sp>
        <p:nvSpPr>
          <p:cNvPr id="43" name="UKG (Release 2)"/>
          <p:cNvSpPr/>
          <p:nvPr/>
        </p:nvSpPr>
        <p:spPr>
          <a:xfrm>
            <a:off x="5907024" y="1883664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UKG</a:t>
            </a:r>
            <a:endParaRPr lang="en-US" sz="800" dirty="0"/>
          </a:p>
        </p:txBody>
      </p:sp>
      <p:sp>
        <p:nvSpPr>
          <p:cNvPr id="44" name="Okta (Release 2)"/>
          <p:cNvSpPr/>
          <p:nvPr/>
        </p:nvSpPr>
        <p:spPr>
          <a:xfrm>
            <a:off x="5907024" y="2029968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</a:t>
            </a:r>
            <a:endParaRPr lang="en-US" sz="800" dirty="0"/>
          </a:p>
        </p:txBody>
      </p:sp>
      <p:sp>
        <p:nvSpPr>
          <p:cNvPr id="45" name="Communications &amp; Service Channels row"/>
          <p:cNvSpPr/>
          <p:nvPr/>
        </p:nvSpPr>
        <p:spPr>
          <a:xfrm>
            <a:off x="320040" y="2194560"/>
            <a:ext cx="10259568" cy="347472"/>
          </a:xfrm>
          <a:prstGeom prst="rect">
            <a:avLst/>
          </a:prstGeom>
          <a:solidFill>
            <a:srgbClr val="E7F5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Communications &amp; Service Channels future divider"/>
          <p:cNvSpPr/>
          <p:nvPr/>
        </p:nvSpPr>
        <p:spPr>
          <a:xfrm>
            <a:off x="10652760" y="2542032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47" name="Communications &amp; Service Channel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249424"/>
            <a:ext cx="237744" cy="237744"/>
          </a:xfrm>
          <a:prstGeom prst="rect">
            <a:avLst/>
          </a:prstGeom>
        </p:spPr>
      </p:pic>
      <p:sp>
        <p:nvSpPr>
          <p:cNvPr id="48" name="Communications &amp;amp; Service Channels label"/>
          <p:cNvSpPr txBox="1"/>
          <p:nvPr/>
        </p:nvSpPr>
        <p:spPr>
          <a:xfrm>
            <a:off x="777240" y="219456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Channels</a:t>
            </a:r>
            <a:endParaRPr lang="en-US" sz="1000" dirty="0"/>
          </a:p>
        </p:txBody>
      </p:sp>
      <p:sp>
        <p:nvSpPr>
          <p:cNvPr id="49" name="Teams (Release 1)"/>
          <p:cNvSpPr/>
          <p:nvPr/>
        </p:nvSpPr>
        <p:spPr>
          <a:xfrm>
            <a:off x="3081528" y="2231136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800" dirty="0"/>
          </a:p>
        </p:txBody>
      </p:sp>
      <p:sp>
        <p:nvSpPr>
          <p:cNvPr id="50" name="Sinch SMS (Release 1)"/>
          <p:cNvSpPr/>
          <p:nvPr/>
        </p:nvSpPr>
        <p:spPr>
          <a:xfrm>
            <a:off x="3081528" y="2377440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Sinch SMS</a:t>
            </a:r>
            <a:endParaRPr lang="en-US" sz="800" dirty="0"/>
          </a:p>
        </p:txBody>
      </p:sp>
      <p:sp>
        <p:nvSpPr>
          <p:cNvPr id="51" name="Genesys (Release 2)"/>
          <p:cNvSpPr/>
          <p:nvPr/>
        </p:nvSpPr>
        <p:spPr>
          <a:xfrm>
            <a:off x="5907024" y="2304288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</a:t>
            </a:r>
            <a:endParaRPr lang="en-US" sz="800" dirty="0"/>
          </a:p>
        </p:txBody>
      </p:sp>
      <p:sp>
        <p:nvSpPr>
          <p:cNvPr id="52" name="Asset &amp; Configuration Management row"/>
          <p:cNvSpPr/>
          <p:nvPr/>
        </p:nvSpPr>
        <p:spPr>
          <a:xfrm>
            <a:off x="320040" y="2542032"/>
            <a:ext cx="10259568" cy="640080"/>
          </a:xfrm>
          <a:prstGeom prst="rect">
            <a:avLst/>
          </a:prstGeom>
          <a:solidFill>
            <a:srgbClr val="FDF0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Asset &amp; Configuration Management future divider"/>
          <p:cNvSpPr/>
          <p:nvPr/>
        </p:nvSpPr>
        <p:spPr>
          <a:xfrm>
            <a:off x="10652760" y="3182112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54" name="Asset &amp; Configuration Managemen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743200"/>
            <a:ext cx="237744" cy="237744"/>
          </a:xfrm>
          <a:prstGeom prst="rect">
            <a:avLst/>
          </a:prstGeom>
        </p:spPr>
      </p:pic>
      <p:sp>
        <p:nvSpPr>
          <p:cNvPr id="55" name="Asset &amp;amp; Configuration Management label"/>
          <p:cNvSpPr txBox="1"/>
          <p:nvPr/>
        </p:nvSpPr>
        <p:spPr>
          <a:xfrm>
            <a:off x="777240" y="254203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&amp; Configuration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56" name="Intune (Release 1)"/>
          <p:cNvSpPr/>
          <p:nvPr/>
        </p:nvSpPr>
        <p:spPr>
          <a:xfrm>
            <a:off x="4023360" y="2578608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</a:t>
            </a:r>
            <a:endParaRPr lang="en-US" sz="800" dirty="0"/>
          </a:p>
        </p:txBody>
      </p:sp>
      <p:sp>
        <p:nvSpPr>
          <p:cNvPr id="57" name="SCCM (Release 1)"/>
          <p:cNvSpPr/>
          <p:nvPr/>
        </p:nvSpPr>
        <p:spPr>
          <a:xfrm>
            <a:off x="4023360" y="2724912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</a:t>
            </a:r>
            <a:endParaRPr lang="en-US" sz="800" dirty="0"/>
          </a:p>
        </p:txBody>
      </p:sp>
      <p:sp>
        <p:nvSpPr>
          <p:cNvPr id="58" name="Lansweeper (Release 1)"/>
          <p:cNvSpPr/>
          <p:nvPr/>
        </p:nvSpPr>
        <p:spPr>
          <a:xfrm>
            <a:off x="4023360" y="2871216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Lansweeper</a:t>
            </a:r>
            <a:endParaRPr lang="en-US" sz="800" dirty="0"/>
          </a:p>
        </p:txBody>
      </p:sp>
      <p:sp>
        <p:nvSpPr>
          <p:cNvPr id="59" name="NetBox (Release 1)"/>
          <p:cNvSpPr/>
          <p:nvPr/>
        </p:nvSpPr>
        <p:spPr>
          <a:xfrm>
            <a:off x="4023360" y="3017520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NetBox</a:t>
            </a:r>
            <a:endParaRPr lang="en-US" sz="800" dirty="0"/>
          </a:p>
        </p:txBody>
      </p:sp>
      <p:sp>
        <p:nvSpPr>
          <p:cNvPr id="60" name="VMware vSphere (Release 2)"/>
          <p:cNvSpPr/>
          <p:nvPr/>
        </p:nvSpPr>
        <p:spPr>
          <a:xfrm>
            <a:off x="5907024" y="2651760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vSphere</a:t>
            </a:r>
            <a:endParaRPr lang="en-US" sz="800" dirty="0"/>
          </a:p>
        </p:txBody>
      </p:sp>
      <p:sp>
        <p:nvSpPr>
          <p:cNvPr id="61" name="Azure Resource Graph (Release 2)"/>
          <p:cNvSpPr/>
          <p:nvPr/>
        </p:nvSpPr>
        <p:spPr>
          <a:xfrm>
            <a:off x="5907024" y="2798064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 Graph</a:t>
            </a:r>
            <a:endParaRPr lang="en-US" sz="700" dirty="0"/>
          </a:p>
        </p:txBody>
      </p:sp>
      <p:sp>
        <p:nvSpPr>
          <p:cNvPr id="62" name="HP (Release 2)"/>
          <p:cNvSpPr/>
          <p:nvPr/>
        </p:nvSpPr>
        <p:spPr>
          <a:xfrm>
            <a:off x="5907024" y="2944368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800" dirty="0"/>
          </a:p>
        </p:txBody>
      </p:sp>
      <p:sp>
        <p:nvSpPr>
          <p:cNvPr id="63" name="Monitoring, Security &amp; Operations row"/>
          <p:cNvSpPr/>
          <p:nvPr/>
        </p:nvSpPr>
        <p:spPr>
          <a:xfrm>
            <a:off x="320040" y="3182112"/>
            <a:ext cx="10259568" cy="640080"/>
          </a:xfrm>
          <a:prstGeom prst="rect">
            <a:avLst/>
          </a:prstGeom>
          <a:solidFill>
            <a:srgbClr val="FCE9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Monitoring, Security &amp; Operations future divider"/>
          <p:cNvSpPr/>
          <p:nvPr/>
        </p:nvSpPr>
        <p:spPr>
          <a:xfrm>
            <a:off x="10652760" y="3822192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65" name="Monitoring, Security &amp; Operation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383280"/>
            <a:ext cx="237744" cy="237744"/>
          </a:xfrm>
          <a:prstGeom prst="rect">
            <a:avLst/>
          </a:prstGeom>
        </p:spPr>
      </p:pic>
      <p:sp>
        <p:nvSpPr>
          <p:cNvPr id="66" name="Monitoring, Security &amp;amp; Operations label"/>
          <p:cNvSpPr txBox="1"/>
          <p:nvPr/>
        </p:nvSpPr>
        <p:spPr>
          <a:xfrm>
            <a:off x="777240" y="31821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Security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67" name="Azure Monitoring (Release 2)"/>
          <p:cNvSpPr/>
          <p:nvPr/>
        </p:nvSpPr>
        <p:spPr>
          <a:xfrm>
            <a:off x="5907024" y="3291840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Monitoring</a:t>
            </a:r>
            <a:endParaRPr lang="en-US" sz="800" dirty="0"/>
          </a:p>
        </p:txBody>
      </p:sp>
      <p:sp>
        <p:nvSpPr>
          <p:cNvPr id="68" name="PRTG (Release 2)"/>
          <p:cNvSpPr/>
          <p:nvPr/>
        </p:nvSpPr>
        <p:spPr>
          <a:xfrm>
            <a:off x="5907024" y="3438144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PRTG</a:t>
            </a:r>
            <a:endParaRPr lang="en-US" sz="800" dirty="0"/>
          </a:p>
        </p:txBody>
      </p:sp>
      <p:sp>
        <p:nvSpPr>
          <p:cNvPr id="69" name="CrowdStrike (Release 2)"/>
          <p:cNvSpPr/>
          <p:nvPr/>
        </p:nvSpPr>
        <p:spPr>
          <a:xfrm>
            <a:off x="5907024" y="3584448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</a:t>
            </a:r>
            <a:endParaRPr lang="en-US" sz="800" dirty="0"/>
          </a:p>
        </p:txBody>
      </p:sp>
      <p:sp>
        <p:nvSpPr>
          <p:cNvPr id="70" name="Tenable (Release 3)"/>
          <p:cNvSpPr/>
          <p:nvPr/>
        </p:nvSpPr>
        <p:spPr>
          <a:xfrm>
            <a:off x="8732520" y="3218688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Tenable</a:t>
            </a:r>
            <a:endParaRPr lang="en-US" sz="800" dirty="0"/>
          </a:p>
        </p:txBody>
      </p:sp>
      <p:sp>
        <p:nvSpPr>
          <p:cNvPr id="71" name="LogRhythm (Release 3)"/>
          <p:cNvSpPr/>
          <p:nvPr/>
        </p:nvSpPr>
        <p:spPr>
          <a:xfrm>
            <a:off x="8732520" y="3364992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LogRhythm</a:t>
            </a:r>
            <a:endParaRPr lang="en-US" sz="800" dirty="0"/>
          </a:p>
        </p:txBody>
      </p:sp>
      <p:sp>
        <p:nvSpPr>
          <p:cNvPr id="72" name="Seamless SOC (Release 3)"/>
          <p:cNvSpPr/>
          <p:nvPr/>
        </p:nvSpPr>
        <p:spPr>
          <a:xfrm>
            <a:off x="8732520" y="3511296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SOC</a:t>
            </a:r>
            <a:endParaRPr lang="en-US" sz="800" dirty="0"/>
          </a:p>
        </p:txBody>
      </p:sp>
      <p:sp>
        <p:nvSpPr>
          <p:cNvPr id="73" name="Medigate (Release 3)"/>
          <p:cNvSpPr/>
          <p:nvPr/>
        </p:nvSpPr>
        <p:spPr>
          <a:xfrm>
            <a:off x="8732520" y="3657600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Medigate</a:t>
            </a:r>
            <a:endParaRPr lang="en-US" sz="800" dirty="0"/>
          </a:p>
        </p:txBody>
      </p:sp>
      <p:sp>
        <p:nvSpPr>
          <p:cNvPr id="74" name="Cloud, Integration &amp; Automation row"/>
          <p:cNvSpPr/>
          <p:nvPr/>
        </p:nvSpPr>
        <p:spPr>
          <a:xfrm>
            <a:off x="320040" y="3822192"/>
            <a:ext cx="10259568" cy="347472"/>
          </a:xfrm>
          <a:prstGeom prst="rect">
            <a:avLst/>
          </a:prstGeom>
          <a:solidFill>
            <a:srgbClr val="EEED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Cloud, Integration &amp; Automation future divider"/>
          <p:cNvSpPr/>
          <p:nvPr/>
        </p:nvSpPr>
        <p:spPr>
          <a:xfrm>
            <a:off x="10652760" y="4169664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76" name="Cloud, Integration &amp; Automatio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877056"/>
            <a:ext cx="237744" cy="237744"/>
          </a:xfrm>
          <a:prstGeom prst="rect">
            <a:avLst/>
          </a:prstGeom>
        </p:spPr>
      </p:pic>
      <p:sp>
        <p:nvSpPr>
          <p:cNvPr id="77" name="Cloud, Integration &amp;amp; Automation label"/>
          <p:cNvSpPr txBox="1"/>
          <p:nvPr/>
        </p:nvSpPr>
        <p:spPr>
          <a:xfrm>
            <a:off x="777240" y="382219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Integration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78" name="Azure DevOps (Release 2)"/>
          <p:cNvSpPr/>
          <p:nvPr/>
        </p:nvSpPr>
        <p:spPr>
          <a:xfrm>
            <a:off x="5907024" y="3858768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800" dirty="0"/>
          </a:p>
        </p:txBody>
      </p:sp>
      <p:sp>
        <p:nvSpPr>
          <p:cNvPr id="79" name="Azure API Management (Release 2)"/>
          <p:cNvSpPr/>
          <p:nvPr/>
        </p:nvSpPr>
        <p:spPr>
          <a:xfrm>
            <a:off x="5907024" y="4005072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</a:t>
            </a:r>
            <a:endParaRPr lang="en-US" sz="700" dirty="0"/>
          </a:p>
        </p:txBody>
      </p:sp>
      <p:sp>
        <p:nvSpPr>
          <p:cNvPr id="80" name="Copilot (TBD)"/>
          <p:cNvSpPr/>
          <p:nvPr/>
        </p:nvSpPr>
        <p:spPr>
          <a:xfrm>
            <a:off x="10808208" y="3858768"/>
            <a:ext cx="905256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800" dirty="0"/>
          </a:p>
        </p:txBody>
      </p:sp>
      <p:sp>
        <p:nvSpPr>
          <p:cNvPr id="81" name="Azure OpenAI (TBD)"/>
          <p:cNvSpPr/>
          <p:nvPr/>
        </p:nvSpPr>
        <p:spPr>
          <a:xfrm>
            <a:off x="10808208" y="4005072"/>
            <a:ext cx="905256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800" dirty="0"/>
          </a:p>
        </p:txBody>
      </p:sp>
      <p:sp>
        <p:nvSpPr>
          <p:cNvPr id="82" name="Vendor &amp; External Services row"/>
          <p:cNvSpPr/>
          <p:nvPr/>
        </p:nvSpPr>
        <p:spPr>
          <a:xfrm>
            <a:off x="320040" y="4169664"/>
            <a:ext cx="10259568" cy="640080"/>
          </a:xfrm>
          <a:prstGeom prst="rect">
            <a:avLst/>
          </a:prstGeom>
          <a:solidFill>
            <a:srgbClr val="FCF6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Vendor &amp; External Services future divider"/>
          <p:cNvSpPr/>
          <p:nvPr/>
        </p:nvSpPr>
        <p:spPr>
          <a:xfrm>
            <a:off x="10652760" y="4809744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84" name="Vendor &amp; External Servic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4370832"/>
            <a:ext cx="237744" cy="237744"/>
          </a:xfrm>
          <a:prstGeom prst="rect">
            <a:avLst/>
          </a:prstGeom>
        </p:spPr>
      </p:pic>
      <p:sp>
        <p:nvSpPr>
          <p:cNvPr id="85" name="Vendor &amp;amp; External Services label"/>
          <p:cNvSpPr txBox="1"/>
          <p:nvPr/>
        </p:nvSpPr>
        <p:spPr>
          <a:xfrm>
            <a:off x="777240" y="4169664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External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86" name="NTT CMDB (Release 1)"/>
          <p:cNvSpPr/>
          <p:nvPr/>
        </p:nvSpPr>
        <p:spPr>
          <a:xfrm>
            <a:off x="4023360" y="4425696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CMDB</a:t>
            </a:r>
            <a:endParaRPr lang="en-US" sz="800" dirty="0"/>
          </a:p>
        </p:txBody>
      </p:sp>
      <p:sp>
        <p:nvSpPr>
          <p:cNvPr id="87" name="NTT (Release 3)"/>
          <p:cNvSpPr/>
          <p:nvPr/>
        </p:nvSpPr>
        <p:spPr>
          <a:xfrm>
            <a:off x="8732520" y="4206240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</a:t>
            </a:r>
            <a:endParaRPr lang="en-US" sz="800" dirty="0"/>
          </a:p>
        </p:txBody>
      </p:sp>
      <p:sp>
        <p:nvSpPr>
          <p:cNvPr id="88" name="Optus (Release 3)"/>
          <p:cNvSpPr/>
          <p:nvPr/>
        </p:nvSpPr>
        <p:spPr>
          <a:xfrm>
            <a:off x="8732520" y="4352544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Optus</a:t>
            </a:r>
            <a:endParaRPr lang="en-US" sz="800" dirty="0"/>
          </a:p>
        </p:txBody>
      </p:sp>
      <p:sp>
        <p:nvSpPr>
          <p:cNvPr id="89" name="Cognizant (Release 3)"/>
          <p:cNvSpPr/>
          <p:nvPr/>
        </p:nvSpPr>
        <p:spPr>
          <a:xfrm>
            <a:off x="8732520" y="4498848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800" dirty="0"/>
          </a:p>
        </p:txBody>
      </p:sp>
      <p:sp>
        <p:nvSpPr>
          <p:cNvPr id="90" name="Accenture (Release 3)"/>
          <p:cNvSpPr/>
          <p:nvPr/>
        </p:nvSpPr>
        <p:spPr>
          <a:xfrm>
            <a:off x="8732520" y="4645152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800" dirty="0"/>
          </a:p>
        </p:txBody>
      </p:sp>
      <p:sp>
        <p:nvSpPr>
          <p:cNvPr id="91" name="Ready Contracts (TBD)"/>
          <p:cNvSpPr/>
          <p:nvPr/>
        </p:nvSpPr>
        <p:spPr>
          <a:xfrm>
            <a:off x="10808208" y="4352544"/>
            <a:ext cx="905256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Contracts</a:t>
            </a:r>
            <a:endParaRPr lang="en-US" sz="800" dirty="0"/>
          </a:p>
        </p:txBody>
      </p:sp>
      <p:sp>
        <p:nvSpPr>
          <p:cNvPr id="92" name="Rhapsody (TBD)"/>
          <p:cNvSpPr/>
          <p:nvPr/>
        </p:nvSpPr>
        <p:spPr>
          <a:xfrm>
            <a:off x="10808208" y="4498848"/>
            <a:ext cx="905256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Rhapsody</a:t>
            </a:r>
            <a:endParaRPr lang="en-US" sz="800" dirty="0"/>
          </a:p>
        </p:txBody>
      </p:sp>
      <p:sp>
        <p:nvSpPr>
          <p:cNvPr id="93" name="Data Migration row"/>
          <p:cNvSpPr/>
          <p:nvPr/>
        </p:nvSpPr>
        <p:spPr>
          <a:xfrm>
            <a:off x="320040" y="4809744"/>
            <a:ext cx="10259568" cy="347472"/>
          </a:xfrm>
          <a:prstGeom prst="rect">
            <a:avLst/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Data Migration future divider"/>
          <p:cNvSpPr/>
          <p:nvPr/>
        </p:nvSpPr>
        <p:spPr>
          <a:xfrm>
            <a:off x="10652760" y="5157216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95" name="Data Migration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4864608"/>
            <a:ext cx="237744" cy="237744"/>
          </a:xfrm>
          <a:prstGeom prst="rect">
            <a:avLst/>
          </a:prstGeom>
        </p:spPr>
      </p:pic>
      <p:sp>
        <p:nvSpPr>
          <p:cNvPr id="96" name="Data Migration label"/>
          <p:cNvSpPr txBox="1"/>
          <p:nvPr/>
        </p:nvSpPr>
        <p:spPr>
          <a:xfrm>
            <a:off x="777240" y="4809744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000" dirty="0"/>
          </a:p>
        </p:txBody>
      </p:sp>
      <p:sp>
        <p:nvSpPr>
          <p:cNvPr id="97" name="Cortex Archive (Release 1)"/>
          <p:cNvSpPr/>
          <p:nvPr/>
        </p:nvSpPr>
        <p:spPr>
          <a:xfrm>
            <a:off x="3081528" y="4846320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Archive</a:t>
            </a:r>
            <a:endParaRPr lang="en-US" sz="800" dirty="0"/>
          </a:p>
        </p:txBody>
      </p:sp>
      <p:sp>
        <p:nvSpPr>
          <p:cNvPr id="98" name="Cherwell (Release 1)"/>
          <p:cNvSpPr/>
          <p:nvPr/>
        </p:nvSpPr>
        <p:spPr>
          <a:xfrm>
            <a:off x="3081528" y="4992624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Cherwell</a:t>
            </a:r>
            <a:endParaRPr lang="en-US" sz="800" dirty="0"/>
          </a:p>
        </p:txBody>
      </p:sp>
      <p:sp>
        <p:nvSpPr>
          <p:cNvPr id="99" name="ME Asset Discovery row"/>
          <p:cNvSpPr/>
          <p:nvPr/>
        </p:nvSpPr>
        <p:spPr>
          <a:xfrm>
            <a:off x="320040" y="5157216"/>
            <a:ext cx="10259568" cy="347472"/>
          </a:xfrm>
          <a:prstGeom prst="rect">
            <a:avLst/>
          </a:prstGeom>
          <a:solidFill>
            <a:srgbClr val="EEF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ME Asset Discovery future divider"/>
          <p:cNvSpPr/>
          <p:nvPr/>
        </p:nvSpPr>
        <p:spPr>
          <a:xfrm>
            <a:off x="10652760" y="5504688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101" name="ME Asset Discovery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5212080"/>
            <a:ext cx="237744" cy="237744"/>
          </a:xfrm>
          <a:prstGeom prst="rect">
            <a:avLst/>
          </a:prstGeom>
        </p:spPr>
      </p:pic>
      <p:sp>
        <p:nvSpPr>
          <p:cNvPr id="102" name="ME Asset Discovery label"/>
          <p:cNvSpPr txBox="1"/>
          <p:nvPr/>
        </p:nvSpPr>
        <p:spPr>
          <a:xfrm>
            <a:off x="777240" y="5157216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Asset Discovery</a:t>
            </a:r>
            <a:endParaRPr lang="en-US" sz="1000" dirty="0"/>
          </a:p>
        </p:txBody>
      </p:sp>
      <p:sp>
        <p:nvSpPr>
          <p:cNvPr id="103" name="Agent based Pilot (Release 1)"/>
          <p:cNvSpPr/>
          <p:nvPr/>
        </p:nvSpPr>
        <p:spPr>
          <a:xfrm>
            <a:off x="4023360" y="5193792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based Pilot</a:t>
            </a:r>
            <a:endParaRPr lang="en-US" sz="800" dirty="0"/>
          </a:p>
        </p:txBody>
      </p:sp>
      <p:sp>
        <p:nvSpPr>
          <p:cNvPr id="104" name="Agentless Pilot (Release 1)"/>
          <p:cNvSpPr/>
          <p:nvPr/>
        </p:nvSpPr>
        <p:spPr>
          <a:xfrm>
            <a:off x="4023360" y="5340096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Pilot</a:t>
            </a:r>
            <a:endParaRPr lang="en-US" sz="800" dirty="0"/>
          </a:p>
        </p:txBody>
      </p:sp>
      <p:sp>
        <p:nvSpPr>
          <p:cNvPr id="105" name="Agent based Rollout (Release 2)"/>
          <p:cNvSpPr/>
          <p:nvPr/>
        </p:nvSpPr>
        <p:spPr>
          <a:xfrm>
            <a:off x="5907024" y="5193792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based Rollout</a:t>
            </a:r>
            <a:endParaRPr lang="en-US" sz="700" dirty="0"/>
          </a:p>
        </p:txBody>
      </p:sp>
      <p:sp>
        <p:nvSpPr>
          <p:cNvPr id="106" name="Agentless rollout (Release 2)"/>
          <p:cNvSpPr/>
          <p:nvPr/>
        </p:nvSpPr>
        <p:spPr>
          <a:xfrm>
            <a:off x="5907024" y="5340096"/>
            <a:ext cx="868680" cy="128016"/>
          </a:xfrm>
          <a:prstGeom prst="roundRect">
            <a:avLst>
              <a:gd name="adj" fmla="val 21429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rollout</a:t>
            </a:r>
            <a:endParaRPr lang="en-US" sz="800" dirty="0"/>
          </a:p>
        </p:txBody>
      </p:sp>
      <p:sp>
        <p:nvSpPr>
          <p:cNvPr id="107" name="Row gridline 1"/>
          <p:cNvSpPr/>
          <p:nvPr/>
        </p:nvSpPr>
        <p:spPr>
          <a:xfrm>
            <a:off x="3044952" y="1463040"/>
            <a:ext cx="0" cy="404164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8" name="Row gridline 2"/>
          <p:cNvSpPr/>
          <p:nvPr/>
        </p:nvSpPr>
        <p:spPr>
          <a:xfrm>
            <a:off x="3986784" y="1463040"/>
            <a:ext cx="0" cy="404164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9" name="Row gridline 3"/>
          <p:cNvSpPr/>
          <p:nvPr/>
        </p:nvSpPr>
        <p:spPr>
          <a:xfrm>
            <a:off x="4928616" y="1463040"/>
            <a:ext cx="0" cy="404164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0" name="Row gridline 4"/>
          <p:cNvSpPr/>
          <p:nvPr/>
        </p:nvSpPr>
        <p:spPr>
          <a:xfrm>
            <a:off x="5870448" y="1463040"/>
            <a:ext cx="0" cy="404164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1" name="Row gridline 5"/>
          <p:cNvSpPr/>
          <p:nvPr/>
        </p:nvSpPr>
        <p:spPr>
          <a:xfrm>
            <a:off x="6812280" y="1463040"/>
            <a:ext cx="0" cy="404164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2" name="Row gridline 6"/>
          <p:cNvSpPr/>
          <p:nvPr/>
        </p:nvSpPr>
        <p:spPr>
          <a:xfrm>
            <a:off x="7754112" y="1463040"/>
            <a:ext cx="0" cy="404164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3" name="Row gridline 7"/>
          <p:cNvSpPr/>
          <p:nvPr/>
        </p:nvSpPr>
        <p:spPr>
          <a:xfrm>
            <a:off x="8695944" y="1463040"/>
            <a:ext cx="0" cy="404164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4" name="Row gridline 8"/>
          <p:cNvSpPr/>
          <p:nvPr/>
        </p:nvSpPr>
        <p:spPr>
          <a:xfrm>
            <a:off x="9637776" y="1463040"/>
            <a:ext cx="0" cy="404164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5" name="Label divider"/>
          <p:cNvSpPr/>
          <p:nvPr/>
        </p:nvSpPr>
        <p:spPr>
          <a:xfrm>
            <a:off x="2103120" y="1463040"/>
            <a:ext cx="0" cy="4041648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16" name="Milestone panel"/>
          <p:cNvSpPr/>
          <p:nvPr/>
        </p:nvSpPr>
        <p:spPr>
          <a:xfrm>
            <a:off x="320040" y="5568696"/>
            <a:ext cx="11548872" cy="92354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2"/>
            </a:solidFill>
            <a:prstDash val="solid"/>
          </a:ln>
        </p:spPr>
      </p:sp>
      <p:pic>
        <p:nvPicPr>
          <p:cNvPr id="117" name="Milestone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5751576"/>
            <a:ext cx="219456" cy="219456"/>
          </a:xfrm>
          <a:prstGeom prst="rect">
            <a:avLst/>
          </a:prstGeom>
        </p:spPr>
      </p:pic>
      <p:sp>
        <p:nvSpPr>
          <p:cNvPr id="118" name="Milestone label"/>
          <p:cNvSpPr txBox="1"/>
          <p:nvPr/>
        </p:nvSpPr>
        <p:spPr>
          <a:xfrm>
            <a:off x="731520" y="56967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Timeline</a:t>
            </a:r>
            <a:endParaRPr lang="en-US" sz="1300" dirty="0"/>
          </a:p>
        </p:txBody>
      </p:sp>
      <p:sp>
        <p:nvSpPr>
          <p:cNvPr id="119" name="Milestone axis"/>
          <p:cNvSpPr/>
          <p:nvPr/>
        </p:nvSpPr>
        <p:spPr>
          <a:xfrm>
            <a:off x="2482596" y="5861304"/>
            <a:ext cx="9249156" cy="0"/>
          </a:xfrm>
          <a:prstGeom prst="line">
            <a:avLst/>
          </a:prstGeom>
          <a:noFill/>
          <a:ln w="19050">
            <a:solidFill>
              <a:srgbClr val="8A9BB5"/>
            </a:solidFill>
            <a:prstDash val="solid"/>
            <a:tailEnd type="triangle"/>
          </a:ln>
        </p:spPr>
      </p:sp>
      <p:sp>
        <p:nvSpPr>
          <p:cNvPr id="120" name="Milestone Oct-26 label"/>
          <p:cNvSpPr txBox="1"/>
          <p:nvPr/>
        </p:nvSpPr>
        <p:spPr>
          <a:xfrm>
            <a:off x="2208276" y="5614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Oct-26</a:t>
            </a:r>
            <a:endParaRPr lang="en-US" sz="900" dirty="0"/>
          </a:p>
        </p:txBody>
      </p:sp>
      <p:sp>
        <p:nvSpPr>
          <p:cNvPr id="121" name="Milestone Oct-26 marker"/>
          <p:cNvSpPr/>
          <p:nvPr/>
        </p:nvSpPr>
        <p:spPr>
          <a:xfrm>
            <a:off x="2528316" y="5815584"/>
            <a:ext cx="91440" cy="91440"/>
          </a:xfrm>
          <a:prstGeom prst="ellipse">
            <a:avLst/>
          </a:prstGeom>
          <a:solidFill>
            <a:srgbClr val="A3B1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2" name="Milestone Nov-26 label"/>
          <p:cNvSpPr txBox="1"/>
          <p:nvPr/>
        </p:nvSpPr>
        <p:spPr>
          <a:xfrm>
            <a:off x="3150108" y="5614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Nov-26</a:t>
            </a:r>
            <a:endParaRPr lang="en-US" sz="900" dirty="0"/>
          </a:p>
        </p:txBody>
      </p:sp>
      <p:sp>
        <p:nvSpPr>
          <p:cNvPr id="123" name="Milestone Nov-26 marker"/>
          <p:cNvSpPr/>
          <p:nvPr/>
        </p:nvSpPr>
        <p:spPr>
          <a:xfrm>
            <a:off x="3456432" y="5801868"/>
            <a:ext cx="118872" cy="118872"/>
          </a:xfrm>
          <a:prstGeom prst="ellipse">
            <a:avLst/>
          </a:prstGeom>
          <a:solidFill>
            <a:srgbClr val="1428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Milestones Nov-26"/>
          <p:cNvSpPr txBox="1"/>
          <p:nvPr/>
        </p:nvSpPr>
        <p:spPr>
          <a:xfrm>
            <a:off x="3470148" y="5952744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SDP Release 1 Go Live</a:t>
            </a:r>
            <a:endParaRPr lang="en-US" sz="800" dirty="0"/>
          </a:p>
        </p:txBody>
      </p:sp>
      <p:sp>
        <p:nvSpPr>
          <p:cNvPr id="125" name="Milestone Dec-26 label"/>
          <p:cNvSpPr txBox="1"/>
          <p:nvPr/>
        </p:nvSpPr>
        <p:spPr>
          <a:xfrm>
            <a:off x="4091940" y="5614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Dec-26</a:t>
            </a:r>
            <a:endParaRPr lang="en-US" sz="900" dirty="0"/>
          </a:p>
        </p:txBody>
      </p:sp>
      <p:sp>
        <p:nvSpPr>
          <p:cNvPr id="126" name="Milestone Dec-26 marker"/>
          <p:cNvSpPr/>
          <p:nvPr/>
        </p:nvSpPr>
        <p:spPr>
          <a:xfrm>
            <a:off x="4398264" y="5801868"/>
            <a:ext cx="118872" cy="118872"/>
          </a:xfrm>
          <a:prstGeom prst="ellipse">
            <a:avLst/>
          </a:prstGeom>
          <a:solidFill>
            <a:srgbClr val="1428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7" name="Milestones Dec-26"/>
          <p:cNvSpPr txBox="1"/>
          <p:nvPr/>
        </p:nvSpPr>
        <p:spPr>
          <a:xfrm>
            <a:off x="4411980" y="59527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based Pilot</a:t>
            </a:r>
            <a:endParaRPr lang="en-US" sz="800" dirty="0"/>
          </a:p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Pilot</a:t>
            </a:r>
            <a:endParaRPr lang="en-US" sz="800" dirty="0"/>
          </a:p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Cherwell Shutdown</a:t>
            </a:r>
            <a:endParaRPr lang="en-US" sz="800" dirty="0"/>
          </a:p>
        </p:txBody>
      </p:sp>
      <p:sp>
        <p:nvSpPr>
          <p:cNvPr id="128" name="Milestone Jan-27 label"/>
          <p:cNvSpPr txBox="1"/>
          <p:nvPr/>
        </p:nvSpPr>
        <p:spPr>
          <a:xfrm>
            <a:off x="5033772" y="5614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Jan-27</a:t>
            </a:r>
            <a:endParaRPr lang="en-US" sz="900" dirty="0"/>
          </a:p>
        </p:txBody>
      </p:sp>
      <p:sp>
        <p:nvSpPr>
          <p:cNvPr id="129" name="Milestone Jan-27 marker"/>
          <p:cNvSpPr/>
          <p:nvPr/>
        </p:nvSpPr>
        <p:spPr>
          <a:xfrm>
            <a:off x="5353812" y="5815584"/>
            <a:ext cx="91440" cy="91440"/>
          </a:xfrm>
          <a:prstGeom prst="ellipse">
            <a:avLst/>
          </a:prstGeom>
          <a:solidFill>
            <a:srgbClr val="A3B1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" name="Milestone Feb-27 label"/>
          <p:cNvSpPr txBox="1"/>
          <p:nvPr/>
        </p:nvSpPr>
        <p:spPr>
          <a:xfrm>
            <a:off x="5975604" y="5614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Feb-27</a:t>
            </a:r>
            <a:endParaRPr lang="en-US" sz="900" dirty="0"/>
          </a:p>
        </p:txBody>
      </p:sp>
      <p:sp>
        <p:nvSpPr>
          <p:cNvPr id="131" name="Milestone Feb-27 marker"/>
          <p:cNvSpPr/>
          <p:nvPr/>
        </p:nvSpPr>
        <p:spPr>
          <a:xfrm>
            <a:off x="6281928" y="5801868"/>
            <a:ext cx="118872" cy="118872"/>
          </a:xfrm>
          <a:prstGeom prst="ellipse">
            <a:avLst/>
          </a:prstGeom>
          <a:solidFill>
            <a:srgbClr val="1428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Milestones Feb-27"/>
          <p:cNvSpPr txBox="1"/>
          <p:nvPr/>
        </p:nvSpPr>
        <p:spPr>
          <a:xfrm>
            <a:off x="6295644" y="59527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based Rollout</a:t>
            </a:r>
            <a:endParaRPr lang="en-US" sz="800" dirty="0"/>
          </a:p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Rollout</a:t>
            </a:r>
            <a:endParaRPr lang="en-US" sz="800" dirty="0"/>
          </a:p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LivePro Shutdown</a:t>
            </a:r>
            <a:endParaRPr lang="en-US" sz="800" dirty="0"/>
          </a:p>
          <a:p>
            <a:pPr marL="114300" indent="-114300">
              <a:buSzPct val="100000"/>
              <a:buChar char="●"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SDP Release 2 Go Live</a:t>
            </a:r>
            <a:endParaRPr lang="en-US" sz="800" dirty="0"/>
          </a:p>
        </p:txBody>
      </p:sp>
      <p:sp>
        <p:nvSpPr>
          <p:cNvPr id="133" name="Milestone Mar-27 label"/>
          <p:cNvSpPr txBox="1"/>
          <p:nvPr/>
        </p:nvSpPr>
        <p:spPr>
          <a:xfrm>
            <a:off x="6917436" y="5614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Mar-27</a:t>
            </a:r>
            <a:endParaRPr lang="en-US" sz="900" dirty="0"/>
          </a:p>
        </p:txBody>
      </p:sp>
      <p:sp>
        <p:nvSpPr>
          <p:cNvPr id="134" name="Milestone Mar-27 marker"/>
          <p:cNvSpPr/>
          <p:nvPr/>
        </p:nvSpPr>
        <p:spPr>
          <a:xfrm>
            <a:off x="7237476" y="5815584"/>
            <a:ext cx="91440" cy="91440"/>
          </a:xfrm>
          <a:prstGeom prst="ellipse">
            <a:avLst/>
          </a:prstGeom>
          <a:solidFill>
            <a:srgbClr val="A3B1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Milestone Apr-27 label"/>
          <p:cNvSpPr txBox="1"/>
          <p:nvPr/>
        </p:nvSpPr>
        <p:spPr>
          <a:xfrm>
            <a:off x="7859268" y="5614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Apr-27</a:t>
            </a:r>
            <a:endParaRPr lang="en-US" sz="900" dirty="0"/>
          </a:p>
        </p:txBody>
      </p:sp>
      <p:sp>
        <p:nvSpPr>
          <p:cNvPr id="136" name="Milestone Apr-27 marker"/>
          <p:cNvSpPr/>
          <p:nvPr/>
        </p:nvSpPr>
        <p:spPr>
          <a:xfrm>
            <a:off x="8179308" y="5815584"/>
            <a:ext cx="91440" cy="91440"/>
          </a:xfrm>
          <a:prstGeom prst="ellipse">
            <a:avLst/>
          </a:prstGeom>
          <a:solidFill>
            <a:srgbClr val="A3B1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Milestone May-27 label"/>
          <p:cNvSpPr txBox="1"/>
          <p:nvPr/>
        </p:nvSpPr>
        <p:spPr>
          <a:xfrm>
            <a:off x="8801100" y="5614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May-27</a:t>
            </a:r>
            <a:endParaRPr lang="en-US" sz="900" dirty="0"/>
          </a:p>
        </p:txBody>
      </p:sp>
      <p:sp>
        <p:nvSpPr>
          <p:cNvPr id="138" name="Milestone May-27 marker"/>
          <p:cNvSpPr/>
          <p:nvPr/>
        </p:nvSpPr>
        <p:spPr>
          <a:xfrm>
            <a:off x="9107424" y="5801868"/>
            <a:ext cx="118872" cy="118872"/>
          </a:xfrm>
          <a:prstGeom prst="ellipse">
            <a:avLst/>
          </a:prstGeom>
          <a:solidFill>
            <a:srgbClr val="1428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Milestones May-27"/>
          <p:cNvSpPr txBox="1"/>
          <p:nvPr/>
        </p:nvSpPr>
        <p:spPr>
          <a:xfrm>
            <a:off x="9121140" y="59527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SDP Release 3 Go Live</a:t>
            </a:r>
            <a:endParaRPr lang="en-US" sz="800" dirty="0"/>
          </a:p>
        </p:txBody>
      </p:sp>
      <p:sp>
        <p:nvSpPr>
          <p:cNvPr id="140" name="Milestone Jun-27 label"/>
          <p:cNvSpPr txBox="1"/>
          <p:nvPr/>
        </p:nvSpPr>
        <p:spPr>
          <a:xfrm>
            <a:off x="9742932" y="5614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Jun-27</a:t>
            </a:r>
            <a:endParaRPr lang="en-US" sz="900" dirty="0"/>
          </a:p>
        </p:txBody>
      </p:sp>
      <p:sp>
        <p:nvSpPr>
          <p:cNvPr id="141" name="Milestone Jun-27 marker"/>
          <p:cNvSpPr/>
          <p:nvPr/>
        </p:nvSpPr>
        <p:spPr>
          <a:xfrm>
            <a:off x="10062972" y="5815584"/>
            <a:ext cx="91440" cy="91440"/>
          </a:xfrm>
          <a:prstGeom prst="ellipse">
            <a:avLst/>
          </a:prstGeom>
          <a:solidFill>
            <a:srgbClr val="A3B1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Footnote"/>
          <p:cNvSpPr txBox="1"/>
          <p:nvPr/>
        </p:nvSpPr>
        <p:spPr>
          <a:xfrm>
            <a:off x="320040" y="65562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shown in the month of their planned end date (as per “End” column).</a:t>
            </a:r>
            <a:endParaRPr lang="en-US" sz="900" dirty="0"/>
          </a:p>
        </p:txBody>
      </p:sp>
      <p:sp>
        <p:nvSpPr>
          <p:cNvPr id="143" name="Legend Release 1 swatch"/>
          <p:cNvSpPr/>
          <p:nvPr/>
        </p:nvSpPr>
        <p:spPr>
          <a:xfrm>
            <a:off x="5715000" y="6574536"/>
            <a:ext cx="274320" cy="155448"/>
          </a:xfrm>
          <a:prstGeom prst="roundRect">
            <a:avLst>
              <a:gd name="adj" fmla="val 17647"/>
            </a:avLst>
          </a:prstGeom>
          <a:solidFill>
            <a:srgbClr val="A9CBF2"/>
          </a:solidFill>
          <a:ln w="6350">
            <a:solidFill>
              <a:srgbClr val="A9CBF2"/>
            </a:solidFill>
            <a:prstDash val="solid"/>
          </a:ln>
        </p:spPr>
      </p:sp>
      <p:sp>
        <p:nvSpPr>
          <p:cNvPr id="144" name="Legend Release 1"/>
          <p:cNvSpPr txBox="1"/>
          <p:nvPr/>
        </p:nvSpPr>
        <p:spPr>
          <a:xfrm>
            <a:off x="6044184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</a:t>
            </a:r>
            <a:endParaRPr lang="en-US" sz="900" dirty="0"/>
          </a:p>
        </p:txBody>
      </p:sp>
      <p:sp>
        <p:nvSpPr>
          <p:cNvPr id="145" name="Legend Release 2 swatch"/>
          <p:cNvSpPr/>
          <p:nvPr/>
        </p:nvSpPr>
        <p:spPr>
          <a:xfrm>
            <a:off x="6675120" y="6574536"/>
            <a:ext cx="274320" cy="155448"/>
          </a:xfrm>
          <a:prstGeom prst="roundRect">
            <a:avLst>
              <a:gd name="adj" fmla="val 17647"/>
            </a:avLst>
          </a:prstGeom>
          <a:solidFill>
            <a:srgbClr val="A8DCD1"/>
          </a:solidFill>
          <a:ln w="6350">
            <a:solidFill>
              <a:srgbClr val="A8DCD1"/>
            </a:solidFill>
            <a:prstDash val="solid"/>
          </a:ln>
        </p:spPr>
      </p:sp>
      <p:sp>
        <p:nvSpPr>
          <p:cNvPr id="146" name="Legend Release 2"/>
          <p:cNvSpPr txBox="1"/>
          <p:nvPr/>
        </p:nvSpPr>
        <p:spPr>
          <a:xfrm>
            <a:off x="7004304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</a:t>
            </a:r>
            <a:endParaRPr lang="en-US" sz="900" dirty="0"/>
          </a:p>
        </p:txBody>
      </p:sp>
      <p:sp>
        <p:nvSpPr>
          <p:cNvPr id="147" name="Legend Release 3 swatch"/>
          <p:cNvSpPr/>
          <p:nvPr/>
        </p:nvSpPr>
        <p:spPr>
          <a:xfrm>
            <a:off x="7635240" y="6574536"/>
            <a:ext cx="274320" cy="155448"/>
          </a:xfrm>
          <a:prstGeom prst="roundRect">
            <a:avLst>
              <a:gd name="adj" fmla="val 17647"/>
            </a:avLst>
          </a:prstGeom>
          <a:solidFill>
            <a:srgbClr val="C9B9F2"/>
          </a:solidFill>
          <a:ln w="6350">
            <a:solidFill>
              <a:srgbClr val="C9B9F2"/>
            </a:solidFill>
            <a:prstDash val="solid"/>
          </a:ln>
        </p:spPr>
      </p:sp>
      <p:sp>
        <p:nvSpPr>
          <p:cNvPr id="148" name="Legend Release 3"/>
          <p:cNvSpPr txBox="1"/>
          <p:nvPr/>
        </p:nvSpPr>
        <p:spPr>
          <a:xfrm>
            <a:off x="7964424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</a:t>
            </a:r>
            <a:endParaRPr lang="en-US" sz="900" dirty="0"/>
          </a:p>
        </p:txBody>
      </p:sp>
      <p:sp>
        <p:nvSpPr>
          <p:cNvPr id="149" name="Legend TBD swatch"/>
          <p:cNvSpPr/>
          <p:nvPr/>
        </p:nvSpPr>
        <p:spPr>
          <a:xfrm>
            <a:off x="8595360" y="6574536"/>
            <a:ext cx="27432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150" name="Legend TBD"/>
          <p:cNvSpPr txBox="1"/>
          <p:nvPr/>
        </p:nvSpPr>
        <p:spPr>
          <a:xfrm>
            <a:off x="8924544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 Roadmap">
  <a:themeElements>
    <a:clrScheme name="ME Roadmap">
      <a:dk1>
        <a:srgbClr val="1F2937"/>
      </a:dk1>
      <a:lt1>
        <a:srgbClr val="FFFFFF"/>
      </a:lt1>
      <a:dk2>
        <a:srgbClr val="14285A"/>
      </a:dk2>
      <a:lt2>
        <a:srgbClr val="F1F4F9"/>
      </a:lt2>
      <a:accent1>
        <a:srgbClr val="7FA9E8"/>
      </a:accent1>
      <a:accent2>
        <a:srgbClr val="8FD3C1"/>
      </a:accent2>
      <a:accent3>
        <a:srgbClr val="B49CEB"/>
      </a:accent3>
      <a:accent4>
        <a:srgbClr val="C62828"/>
      </a:accent4>
      <a:accent5>
        <a:srgbClr val="4F46E5"/>
      </a:accent5>
      <a:accent6>
        <a:srgbClr val="B8692E"/>
      </a:accent6>
      <a:hlink>
        <a:srgbClr val="2F6FDE"/>
      </a:hlink>
      <a:folHlink>
        <a:srgbClr val="6B7280"/>
      </a:folHlink>
    </a:clrScheme>
    <a:fontScheme name="ME Roadma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ManageEngine Technical Delivery Roadmap</dc:title>
  <dc:subject>PptxGenJS Presentation</dc:subject>
  <dc:creator>PptxGenJS</dc:creator>
  <cp:lastModifiedBy>PptxGenJS</cp:lastModifiedBy>
  <cp:revision>1</cp:revision>
  <dcterms:created xsi:type="dcterms:W3CDTF">2026-10-27T23:23:24Z</dcterms:created>
  <dcterms:modified xsi:type="dcterms:W3CDTF">2026-10-27T23:23:24Z</dcterms:modified>
</cp:coreProperties>
</file>